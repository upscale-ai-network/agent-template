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258" r:id="rId7"/>
    <p:sldId id="259" r:id="rId8"/>
    <p:sldId id="260" r:id="rId9"/>
    <p:sldId id="261" r:id="rId1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9pMNojvmZd7sLzoI35cKCZ+b9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37" Type="http://schemas.openxmlformats.org/officeDocument/2006/relationships/notesMaster" Target="notesMasters/notesMaster1.xml"/><Relationship Id="rId38" Type="http://customschemas.google.com/relationships/presentationmetadata" Target="meta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This deck sells me in the role — vision, draft plan, how I drive — not a document handoff.</a:t>
            </a:r>
          </a:p>
          <a:p/>
          <a:p>
            <a:r>
              <a:t>Left = program bar (done and validated to tape-out). Right = Diwakar DRI wedge (DBM). Close = mandate + **concrete draft in next few days** (steer post-meeting).</a:t>
            </a: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b39bbdc2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8b39bbdc2a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Sponsor is you — your name is not on this deck.</a:t>
            </a:r>
          </a:p>
          <a:p/>
          <a:p>
            <a:r>
              <a:t>I am Diwakar. You need someone you can trust to drive with little supervision — not get lost or stuck — while you guide at critical junctures. These slides show what I will do in that role: vision, plans, draft execution path.</a:t>
            </a:r>
          </a:p>
          <a:p/>
          <a:p>
            <a:r>
              <a:t>Two alignments: (1) your done-and-validated bar — product, mgmt plane, architecture validation, SDK/SAI, C-model → emulation → silicon; (2) my wedge — Dynamic Switch-Buffer Management (DBM) at CSB (QoSMAP, Queue, buffer carving).</a:t>
            </a:r>
          </a:p>
          <a:p/>
          <a:p>
            <a:r>
              <a:t>DBM (say once): ESUN-world pair to DLB — buffers/CSB layer, not ECMP/fabric. **Datapath Architecture** (E-level lane; implicit owner — no name, no OCP on slide). W peers: Shafi (L2/L3/Mirroring), Tippanna (ECMP/Stats), Tilak (L2), SDK leads.</a:t>
            </a:r>
          </a:p>
          <a:p/>
          <a:p>
            <a:r>
              <a:t>Flow: slides 1–2 (situation + task) → QoS buffer carving arch walk → slides 3–4 (mandate + alignment).</a:t>
            </a:r>
          </a:p>
          <a:p/>
          <a:p>
            <a:r>
              <a:t>What I will drive in your program bar — not owning product, mgmt, full AV, or SDK programs, but contributing with a clear wedge.</a:t>
            </a:r>
          </a:p>
          <a:p/>
          <a:p>
            <a:r>
              <a:t>Bottom band = function lane (not role title): QoSMAP, Queue, buffer carving at CSB. Bounded scope under steer.</a:t>
            </a:r>
          </a:p>
          <a:p/>
          <a:p>
            <a:r>
              <a:t>Selling: I have a bounded wedge and understand how it sits in the full tape-out path.</a:t>
            </a:r>
          </a:p>
          <a:p/>
          <a:p>
            <a:r>
              <a:t>Pipeline walk is not a deliverable — it is how I show vision, draft plans, and execution instinct. Walk it; steer me at junctures. Role-play the arch execution plan.</a:t>
            </a:r>
          </a:p>
        </p:txBody>
      </p:sp>
      <p:sp>
        <p:nvSpPr>
          <p:cNvPr id="51" name="Google Shape;51;g38b39bbdc2a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b39bbdc2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8b39bbdc2a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order: three columns **left → right**, then **down** to QoS buffer carving arch walk. **Read order** on-slide: 1 → 2.</a:t>
            </a:r>
          </a:p>
          <a:p/>
          <a:p>
            <a:r>
              <a:t>Col 1 = tape-out validation (program). Col 2 = Diwakar lane (orange). Col 3 = peer DRIs. **Bottom row** = W intersects + buffer carve plan.</a:t>
            </a:r>
          </a:p>
          <a:p/>
          <a:p>
            <a:r>
              <a:t>**No gate diamond** — stand-alone / forward-safe (Thippanna Sr.W + Prabhu A). Alignment / reframe with sponsor — spoken at Friday meeting, not on-wall.</a:t>
            </a:r>
          </a:p>
          <a:p/>
          <a:p>
            <a:r>
              <a:t>*(Thippanna stacked layout → B6 backlog.)*</a:t>
            </a:r>
          </a:p>
        </p:txBody>
      </p:sp>
      <p:sp>
        <p:nvSpPr>
          <p:cNvPr id="62" name="Google Shape;62;g38b39bbdc2a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b39bbdc2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8b39bbdc2a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SharePoint timeline: 2–3 month window was too slow — concrete output in the **next few days** (yellow highlight on slide).</a:t>
            </a:r>
          </a:p>
          <a:p/>
          <a:p>
            <a:r>
              <a:t>Say: **buffer carve plan** + validation gates v0 (format per steer) — not another 50-pager. North star unchanged: tape-out with SDK, SAI, mgmt on silicon.</a:t>
            </a:r>
          </a:p>
          <a:p/>
          <a:p>
            <a:r>
              <a:t>Sponsor touch-in at gates; Diwakar drives day-to-day technical work.</a:t>
            </a:r>
          </a:p>
          <a:p/>
          <a:p>
            <a:r>
              <a:t>Slide 4: four engineering checkpoints before Friday meeting close. Mandate = permission to drive the sprint. Pipeline plan co-evolved on the walk — alignment, not a doc handoff.</a:t>
            </a:r>
          </a:p>
        </p:txBody>
      </p:sp>
      <p:sp>
        <p:nvSpPr>
          <p:cNvPr id="73" name="Google Shape;73;g38b39bbdc2a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42e4bd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d542e4bd6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Four checkpoints — technical, not a sign-off deck.</a:t>
            </a:r>
          </a:p>
          <a:p/>
          <a:p>
            <a:r>
              <a:t>Scope: slides 1–2 — program bar + DBM at CSB framed correctly? Lane: QoSMAP, Queue, buffer carving vs peer DRIs. Pipeline walk: logical pipeline and draft validation path. **Datapath Architecture** checkpoint — her lane; OCP implicit, not on slide.</a:t>
            </a:r>
          </a:p>
          <a:p/>
          <a:p>
            <a:r>
              <a:t>If aligned: mandate to ship **buffer carve plan in next few days** → iterate toward tape-out (AV/C-model, SDK/SAI/mgmt).</a:t>
            </a:r>
          </a:p>
        </p:txBody>
      </p:sp>
      <p:sp>
        <p:nvSpPr>
          <p:cNvPr id="84" name="Google Shape;84;g3d542e4bd6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83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 </a:t>
            </a:r>
            <a:r>
              <a:rPr lang="en-US" sz="22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22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828800"/>
            <a:ext cx="3200400" cy="36576"/>
          </a:xfrm>
          <a:prstGeom prst="rect">
            <a:avLst/>
          </a:prstGeom>
          <a:solidFill>
            <a:srgbClr val="FFE19E"/>
          </a:solidFill>
          <a:ln w="127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96596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>qos architecture</a:t>
            </a:r>
            <a:endParaRPr sz="1950" b="0" i="1" u="none" strike="noStrike" cap="none">
              <a:solidFill>
                <a:srgbClr val="FEDB8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0" i="1" u="none" strike="noStrike" cap="none">
                <a:solidFill>
                  <a:srgbClr val="FEDB8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2600" b="0" i="1" u="none" strike="noStrike" cap="none">
              <a:solidFill>
                <a:srgbClr val="FFE1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EF6C00"/>
                </a:solidFill>
                <a:latin typeface="Calibri"/>
                <a:ea typeface="Calibri"/>
                <a:cs typeface="Calibri"/>
                <a:sym typeface="Calibri"/>
              </a:rPr>
              <a:t>Diwakar Tundlam - qos architect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889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78899"/>
                </a:solidFill>
                <a:latin typeface="Calibri"/>
                <a:ea typeface="Calibri"/>
                <a:cs typeface="Calibri"/>
                <a:sym typeface="Calibri"/>
              </a:rPr>
              <a:t>Architecture review · Confidential — Upscale 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0" y="0"/>
            <a:ext cx="4572000" cy="4869180"/>
          </a:xfrm>
          <a:prstGeom prst="rect">
            <a:avLst/>
          </a:prstGeom>
          <a:solidFill>
            <a:srgbClr val="071E35"/>
          </a:solidFill>
          <a:ln w="12700" cap="flat" cmpd="sng">
            <a:solidFill>
              <a:srgbClr val="071E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846320" y="274320"/>
            <a:ext cx="27432" cy="13716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394960" y="274320"/>
            <a:ext cx="27432" cy="164592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0" y="274320"/>
            <a:ext cx="27432" cy="192024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492240" y="274320"/>
            <a:ext cx="27432" cy="219456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040880" y="274320"/>
            <a:ext cx="27432" cy="246888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589520" y="274320"/>
            <a:ext cx="27432" cy="2743200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846320" y="457200"/>
            <a:ext cx="320040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846320" y="1188720"/>
            <a:ext cx="283464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46320" y="1920240"/>
            <a:ext cx="246888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846320" y="2651760"/>
            <a:ext cx="2103120" cy="27432"/>
          </a:xfrm>
          <a:prstGeom prst="rect">
            <a:avLst/>
          </a:prstGeom>
          <a:solidFill>
            <a:srgbClr val="C8A85A">
              <a:alpha val="40000"/>
            </a:srgbClr>
          </a:solidFill>
          <a:ln w="12700" cap="flat" cmpd="sng">
            <a:solidFill>
              <a:srgbClr val="C8A85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760720" y="146304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A2744"/>
          </a:solidFill>
          <a:ln w="25400" cap="flat" cmpd="sng">
            <a:solidFill>
              <a:srgbClr val="FFE1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760720" y="173736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FFE19E"/>
              </a:buClr>
              <a:buSzPts val="2200"/>
              <a:buFont typeface="Calibri"/>
              <a:buNone/>
            </a:pPr>
            <a:r>
              <a:rPr sz="1900">
                <a:solidFill>
                  <a:srgbClr val="FFE19E"/>
                </a:solidFill>
                <a:latin typeface="Calibri"/>
              </a:rPr>
              <a:t>Dynamic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spcAft>
                <a:spcPts val="200"/>
              </a:spcAft>
            </a:pPr>
            <a:r>
              <a:rPr sz="1900">
                <a:solidFill>
                  <a:srgbClr val="FFE19E"/>
                </a:solidFill>
                <a:latin typeface="Calibri"/>
              </a:rPr>
              <a:t>Switch-Buffer</a:t>
            </a:r>
          </a:p>
          <a:p>
            <a:pPr algn="ctr">
              <a:spcAft>
                <a:spcPts val="200"/>
              </a:spcAft>
            </a:pPr>
            <a:r>
              <a:rPr sz="1900">
                <a:solidFill>
                  <a:srgbClr val="FFE19E"/>
                </a:solidFill>
                <a:latin typeface="Calibri"/>
              </a:rPr>
              <a:t>Management</a:t>
            </a:r>
          </a:p>
        </p:txBody>
      </p:sp>
      <p:sp>
        <p:nvSpPr>
          <p:cNvPr id="34" name="Google Shape;34;p1"/>
          <p:cNvSpPr/>
          <p:nvPr/>
        </p:nvSpPr>
        <p:spPr>
          <a:xfrm>
            <a:off x="0" y="4850892"/>
            <a:ext cx="9144000" cy="18288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81F3A"/>
          </a:solidFill>
          <a:ln w="12700" cap="flat" cmpd="sng">
            <a:solidFill>
              <a:srgbClr val="08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74320" y="488746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88AA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6688AA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863840" y="48874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b39bbdc2a_0_1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Dynamic Switch-Buffer Management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556677"/>
                </a:solidFill>
                <a:latin typeface="Arial"/>
              </a:rPr>
              <a:t>Buffer carving at Central Scheduler Block (CSB)</a:t>
            </a:r>
          </a:p>
        </p:txBody>
      </p:sp>
      <p:sp>
        <p:nvSpPr>
          <p:cNvPr id="54" name="Google Shape;54;g38b39bbdc2a_0_1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8b39bbdc2a_0_1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8b39bbdc2a_0_1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8b39bbdc2a_0_1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8b39bbdc2a_0_1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Picture 58" descr="slide01-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38547"/>
            <a:ext cx="8412480" cy="3186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b39bbdc2a_0_2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Validated to tape-out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8b39bbdc2a_0_2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8b39bbdc2a_0_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8b39bbdc2a_0_2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8b39bbdc2a_0_2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8b39bbdc2a_0_2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Picture 69" descr="slide02-valid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38547"/>
            <a:ext cx="8412480" cy="3186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b39bbdc2a_0_3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Near-term scope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8b39bbdc2a_0_3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8b39bbdc2a_0_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8b39bbdc2a_0_3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8b39bbdc2a_0_3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8b39bbdc2a_0_3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Picture 80" descr="slide03-outc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38547"/>
            <a:ext cx="8412480" cy="3186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42e4bd64_0_0"/>
          <p:cNvSpPr/>
          <p:nvPr/>
        </p:nvSpPr>
        <p:spPr>
          <a:xfrm>
            <a:off x="411480" y="201168"/>
            <a:ext cx="8321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51830"/>
              </a:buClr>
              <a:buSzPts val="3000"/>
              <a:buFont typeface="Calibri"/>
              <a:buNone/>
            </a:pPr>
            <a:r>
              <a:rPr sz="2600">
                <a:solidFill>
                  <a:srgbClr val="051830"/>
                </a:solidFill>
                <a:latin typeface="Calibri"/>
              </a:rPr>
              <a:t>Alignment · Friday meeting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d542e4bd64_0_0"/>
          <p:cNvSpPr/>
          <p:nvPr/>
        </p:nvSpPr>
        <p:spPr>
          <a:xfrm>
            <a:off x="0" y="4850892"/>
            <a:ext cx="9144000" cy="18300"/>
          </a:xfrm>
          <a:prstGeom prst="rect">
            <a:avLst/>
          </a:prstGeom>
          <a:solidFill>
            <a:srgbClr val="C8A85A"/>
          </a:solidFill>
          <a:ln w="12700" cap="flat" cmpd="sng">
            <a:solidFill>
              <a:srgbClr val="C8A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542e4bd64_0_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F4F6FA"/>
          </a:solidFill>
          <a:ln w="12700" cap="flat" cmpd="sng">
            <a:solidFill>
              <a:srgbClr val="F4F6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542e4bd64_0_0"/>
          <p:cNvSpPr/>
          <p:nvPr/>
        </p:nvSpPr>
        <p:spPr>
          <a:xfrm>
            <a:off x="274320" y="4887468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© 2026 Upscale AI – Proprietary and Confidential – Do Not Reproduce or Duplicate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d542e4bd64_0_0"/>
          <p:cNvSpPr/>
          <p:nvPr/>
        </p:nvSpPr>
        <p:spPr>
          <a:xfrm>
            <a:off x="7863840" y="4887468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19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 </a:t>
            </a:r>
            <a:r>
              <a:rPr lang="en-US" sz="900" b="1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upscale </a:t>
            </a:r>
            <a:r>
              <a:rPr lang="en-US" sz="900" b="0" i="0" u="none" strike="noStrike" cap="none">
                <a:solidFill>
                  <a:srgbClr val="FFE19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d542e4bd64_0_0"/>
          <p:cNvSpPr txBox="1"/>
          <p:nvPr/>
        </p:nvSpPr>
        <p:spPr>
          <a:xfrm>
            <a:off x="411475" y="7955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Picture 91" descr="slide04-spon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38547"/>
            <a:ext cx="8412480" cy="3186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3CE4F5B33B9B47BA16A8D82636783D" ma:contentTypeVersion="15" ma:contentTypeDescription="Create a new document." ma:contentTypeScope="" ma:versionID="3f5d8ee684fd6382a1a7264cb2ced548">
  <xsd:schema xmlns:xsd="http://www.w3.org/2001/XMLSchema" xmlns:xs="http://www.w3.org/2001/XMLSchema" xmlns:p="http://schemas.microsoft.com/office/2006/metadata/properties" xmlns:ns2="fb6a68c4-ab8f-4ba3-a895-6ac835c17b7e" xmlns:ns3="02831a02-8e16-4ec9-bd65-59388d77e3b2" targetNamespace="http://schemas.microsoft.com/office/2006/metadata/properties" ma:root="true" ma:fieldsID="5a953b81592bcab817634265e9ab1dd5" ns2:_="" ns3:_="">
    <xsd:import namespace="fb6a68c4-ab8f-4ba3-a895-6ac835c17b7e"/>
    <xsd:import namespace="02831a02-8e16-4ec9-bd65-59388d77e3b2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igrationWizId" minOccurs="0"/>
                <xsd:element ref="ns3:MigrationWizIdPermissions" minOccurs="0"/>
                <xsd:element ref="ns3:MigrationWizIdVersion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a68c4-ab8f-4ba3-a895-6ac835c17b7e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1" nillable="true" ma:displayName="Taxonomy Catch All Column" ma:hidden="true" ma:list="{39f00500-20d3-4015-8ed4-d465b76ab46e}" ma:internalName="TaxCatchAll" ma:showField="CatchAllData" ma:web="fb6a68c4-ab8f-4ba3-a895-6ac835c17b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31a02-8e16-4ec9-bd65-59388d77e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igrationWizId" ma:index="16" nillable="true" ma:displayName="MigrationWizId" ma:internalName="MigrationWizId">
      <xsd:simpleType>
        <xsd:restriction base="dms:Text"/>
      </xsd:simpleType>
    </xsd:element>
    <xsd:element name="MigrationWizIdPermissions" ma:index="17" nillable="true" ma:displayName="MigrationWizIdPermissions" ma:internalName="MigrationWizIdPermissions">
      <xsd:simpleType>
        <xsd:restriction base="dms:Text"/>
      </xsd:simpleType>
    </xsd:element>
    <xsd:element name="MigrationWizIdVersion" ma:index="18" nillable="true" ma:displayName="MigrationWizIdVersion" ma:internalName="MigrationWizIdVersion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5568d06a-9151-4f9f-a28d-684c52c138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SourceID xmlns="fb6a68c4-ab8f-4ba3-a895-6ac835c17b7e">1kv6CIXj2YO96Z9sh70NFdV8FGzdxTmcr</MigrationSourceID>
    <MigrationWizIdPermissions xmlns="02831a02-8e16-4ec9-bd65-59388d77e3b2" xsi:nil="true"/>
    <MigrationWizIdVersion xmlns="02831a02-8e16-4ec9-bd65-59388d77e3b2" xsi:nil="true"/>
    <MigrationWizId xmlns="02831a02-8e16-4ec9-bd65-59388d77e3b2" xsi:nil="true"/>
    <lcf76f155ced4ddcb4097134ff3c332f xmlns="02831a02-8e16-4ec9-bd65-59388d77e3b2">
      <Terms xmlns="http://schemas.microsoft.com/office/infopath/2007/PartnerControls"/>
    </lcf76f155ced4ddcb4097134ff3c332f>
    <TaxCatchAll xmlns="fb6a68c4-ab8f-4ba3-a895-6ac835c17b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F9CACF-705F-4DAF-B572-0A458E8DBA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6a68c4-ab8f-4ba3-a895-6ac835c17b7e"/>
    <ds:schemaRef ds:uri="02831a02-8e16-4ec9-bd65-59388d77e3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908B21-CBA9-4FB3-99DD-253C12A6A26A}">
  <ds:schemaRefs>
    <ds:schemaRef ds:uri="http://schemas.microsoft.com/office/2006/metadata/properties"/>
    <ds:schemaRef ds:uri="http://schemas.microsoft.com/office/infopath/2007/PartnerControls"/>
    <ds:schemaRef ds:uri="fb6a68c4-ab8f-4ba3-a895-6ac835c17b7e"/>
    <ds:schemaRef ds:uri="02831a02-8e16-4ec9-bd65-59388d77e3b2"/>
  </ds:schemaRefs>
</ds:datastoreItem>
</file>

<file path=customXml/itemProps3.xml><?xml version="1.0" encoding="utf-8"?>
<ds:datastoreItem xmlns:ds="http://schemas.openxmlformats.org/officeDocument/2006/customXml" ds:itemID="{F309101F-597A-4913-BCA7-C230F0E946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32</Slides>
  <Notes>32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Girish Kalele</dc:creator>
  <cp:revision>1</cp:revision>
  <dcterms:created xsi:type="dcterms:W3CDTF">2026-03-27T17:55:03Z</dcterms:created>
  <dcterms:modified xsi:type="dcterms:W3CDTF">2026-06-04T18:38:57Z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0x010100D63CE4F5B33B9B47BA16A8D82636783D</vt:lpwstr>
  </property>
</Properties>
</file>