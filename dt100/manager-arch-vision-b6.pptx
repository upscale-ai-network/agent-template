
<file path=[Content_Types].xml><?xml version="1.0" encoding="utf-8"?>
<Types xmlns="http://schemas.openxmlformats.org/package/2006/content-types">
  <Default Extension="jpg" ContentType="image/jpe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4"/>
  </p:sldMasterIdLst>
  <p:notesMasterIdLst>
    <p:notesMasterId r:id="rId37"/>
  </p:notesMasterIdLst>
  <p:sldIdLst>
    <p:sldId id="256" r:id="rId5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</p:sldIdLst>
  <p:sldSz cx="9144000" cy="5143500" type="screen16x9"/>
  <p:notesSz cx="51435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GoogleSlidesCustomDataVersion2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9pMNojvmZd7sLzoI35cKCZ+b9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9" Type="http://schemas.openxmlformats.org/officeDocument/2006/relationships/slide" Target="slides/slide5.xml"/><Relationship Id="rId10" Type="http://schemas.openxmlformats.org/officeDocument/2006/relationships/slide" Target="slides/slide6.xml"/><Relationship Id="rId11" Type="http://schemas.openxmlformats.org/officeDocument/2006/relationships/slide" Target="slides/slide7.xml"/><Relationship Id="rId12" Type="http://schemas.openxmlformats.org/officeDocument/2006/relationships/slide" Target="slides/slide8.xml"/><Relationship Id="rId13" Type="http://schemas.openxmlformats.org/officeDocument/2006/relationships/slide" Target="slides/slide9.xml"/><Relationship Id="rId14" Type="http://schemas.openxmlformats.org/officeDocument/2006/relationships/slide" Target="slides/slide10.xml"/><Relationship Id="rId15" Type="http://schemas.openxmlformats.org/officeDocument/2006/relationships/slide" Target="slides/slide11.xml"/><Relationship Id="rId16" Type="http://schemas.openxmlformats.org/officeDocument/2006/relationships/slide" Target="slides/slide12.xml"/><Relationship Id="rId37" Type="http://schemas.openxmlformats.org/officeDocument/2006/relationships/notesMaster" Target="notesMasters/notesMaster1.xml"/><Relationship Id="rId38" Type="http://customschemas.google.com/relationships/presentationmetadata" Target="metadata"/><Relationship Id="rId39" Type="http://schemas.openxmlformats.org/officeDocument/2006/relationships/presProps" Target="presProps.xml"/><Relationship Id="rId40" Type="http://schemas.openxmlformats.org/officeDocument/2006/relationships/viewProps" Target="viewProps.xml"/><Relationship Id="rId41" Type="http://schemas.openxmlformats.org/officeDocument/2006/relationships/theme" Target="theme/theme1.xml"/><Relationship Id="rId42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" name="Google Shape;13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4" name="Google Shape;14;p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g38b39bbdc2a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50" name="Google Shape;50;g38b39bbdc2a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51" name="Google Shape;51;g38b39bbdc2a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3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g38b39bbdc2a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1" name="Google Shape;61;g38b39bbdc2a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62" name="Google Shape;62;g38b39bbdc2a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38b39bbdc2a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72" name="Google Shape;72;g38b39bbdc2a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73" name="Google Shape;73;g38b39bbdc2a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5</a:t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g3d542e4bd64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83" name="Google Shape;83;g3d542e4bd64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84" name="Google Shape;84;g3d542e4bd64_0_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6</a:t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g3d542e4bd64_0_3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94" name="Google Shape;94;g3d542e4bd64_0_3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95" name="Google Shape;95;g3d542e4bd64_0_3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7</a:t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g3d542e4bd64_0_1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05" name="Google Shape;105;g3d542e4bd64_0_1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06" name="Google Shape;106;g3d542e4bd64_0_1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8</a:t>
            </a:fld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g3d542e4bd64_0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16" name="Google Shape;116;g3d542e4bd64_0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7" name="Google Shape;117;g3d542e4bd64_0_20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9</a:t>
            </a:fld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g38b39bbdc2a_0_4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27" name="Google Shape;127;g38b39bbdc2a_0_4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28" name="Google Shape;128;g38b39bbdc2a_0_4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10</a:t>
            </a:fld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g38b39bbdc2a_0_5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38" name="Google Shape;138;g38b39bbdc2a_0_5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39" name="Google Shape;139;g38b39bbdc2a_0_5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11</a:t>
            </a:fld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g38b39bbdc2a_0_6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9" name="Google Shape;149;g38b39bbdc2a_0_6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50" name="Google Shape;150;g38b39bbdc2a_0_6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fld id="{00000000-1234-1234-1234-123412341234}" type="slidenum">
              <a:rPr lang="en-US"/>
              <a:t>12</a:t>
            </a:fld>
            <a:endParaRPr/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DEFAULT">
  <p:cSld name="DEFAULT">
    <p:bg>
      <p:bgPr>
        <a:solidFill>
          <a:schemeClr val="lt1"/>
        </a:solidFill>
        <a:effectLst/>
      </p:bgPr>
    </p:bg>
    <p:spTree>
      <p:nvGrpSpPr>
        <p:cNvPr id="1" name="Shape 10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1830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"/>
          <p:cNvSpPr/>
          <p:nvPr/>
        </p:nvSpPr>
        <p:spPr>
          <a:xfrm>
            <a:off x="457200" y="1097280"/>
            <a:ext cx="4114800" cy="4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 </a:t>
            </a:r>
            <a:r>
              <a:rPr lang="en-US" sz="22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22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17;p1"/>
          <p:cNvSpPr/>
          <p:nvPr/>
        </p:nvSpPr>
        <p:spPr>
          <a:xfrm>
            <a:off x="457200" y="1828800"/>
            <a:ext cx="3200400" cy="36576"/>
          </a:xfrm>
          <a:prstGeom prst="rect">
            <a:avLst/>
          </a:prstGeom>
          <a:solidFill>
            <a:srgbClr val="FFE19E"/>
          </a:solidFill>
          <a:ln w="127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" name="Google Shape;18;p1"/>
          <p:cNvSpPr/>
          <p:nvPr/>
        </p:nvSpPr>
        <p:spPr>
          <a:xfrm>
            <a:off x="457200" y="1965960"/>
            <a:ext cx="438912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>Arch vision plan (B6)</a:t>
            </a:r>
            <a:endParaRPr sz="1950" b="0" i="1" u="none" strike="noStrike" cap="none">
              <a:solidFill>
                <a:srgbClr val="FEDB8D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en-US" sz="1950" b="0" i="1" u="none" strike="noStrike" cap="none">
                <a:solidFill>
                  <a:srgbClr val="FEDB8D"/>
                </a:solidFill>
                <a:latin typeface="Arial"/>
                <a:ea typeface="Arial"/>
                <a:cs typeface="Arial"/>
                <a:sym typeface="Arial"/>
              </a:rPr>
              <a:t/>
            </a:r>
            <a:endParaRPr sz="2600" b="0" i="1" u="none" strike="noStrike" cap="none">
              <a:solidFill>
                <a:srgbClr val="FFE19E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9" name="Google Shape;19;p1"/>
          <p:cNvSpPr/>
          <p:nvPr/>
        </p:nvSpPr>
        <p:spPr>
          <a:xfrm>
            <a:off x="457200" y="3383280"/>
            <a:ext cx="3657600" cy="3200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AABBCC"/>
              </a:buClr>
              <a:buSzPts val="1100"/>
              <a:buFont typeface="Calibri"/>
              <a:buNone/>
            </a:pPr>
            <a:r>
              <a:rPr lang="en-US" sz="1100" b="0" i="1" u="none" strike="noStrike" cap="none">
                <a:solidFill>
                  <a:srgbClr val="AABBCC"/>
                </a:solidFill>
                <a:latin typeface="Calibri"/>
                <a:ea typeface="Calibri"/>
                <a:cs typeface="Calibri"/>
                <a:sym typeface="Calibri"/>
              </a:rPr>
              <a:t>Open after Yes on A3 — role-play, not a handoff</a:t>
            </a:r>
            <a:endParaRPr sz="11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0" name="Google Shape;20;p1"/>
          <p:cNvSpPr/>
          <p:nvPr/>
        </p:nvSpPr>
        <p:spPr>
          <a:xfrm>
            <a:off x="457200" y="3749040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778899"/>
              </a:buClr>
              <a:buSzPts val="1000"/>
              <a:buFont typeface="Calibri"/>
              <a:buNone/>
            </a:pPr>
            <a:r>
              <a:rPr lang="en-US" sz="1000" b="0" i="0" u="none" strike="noStrike" cap="none">
                <a:solidFill>
                  <a:srgbClr val="778899"/>
                </a:solidFill>
                <a:latin typeface="Calibri"/>
                <a:ea typeface="Calibri"/>
                <a:cs typeface="Calibri"/>
                <a:sym typeface="Calibri"/>
              </a:rPr>
              <a:t>Confidential — Upscale AI</a:t>
            </a:r>
            <a:endParaRPr sz="1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21" name="Google Shape;21;p1"/>
          <p:cNvSpPr/>
          <p:nvPr/>
        </p:nvSpPr>
        <p:spPr>
          <a:xfrm>
            <a:off x="4572000" y="0"/>
            <a:ext cx="4572000" cy="4869180"/>
          </a:xfrm>
          <a:prstGeom prst="rect">
            <a:avLst/>
          </a:prstGeom>
          <a:solidFill>
            <a:srgbClr val="071E35"/>
          </a:solidFill>
          <a:ln w="12700" cap="flat" cmpd="sng">
            <a:solidFill>
              <a:srgbClr val="071E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1"/>
          <p:cNvSpPr/>
          <p:nvPr/>
        </p:nvSpPr>
        <p:spPr>
          <a:xfrm>
            <a:off x="4846320" y="274320"/>
            <a:ext cx="27432" cy="13716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3" name="Google Shape;23;p1"/>
          <p:cNvSpPr/>
          <p:nvPr/>
        </p:nvSpPr>
        <p:spPr>
          <a:xfrm>
            <a:off x="5394960" y="274320"/>
            <a:ext cx="27432" cy="164592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" name="Google Shape;24;p1"/>
          <p:cNvSpPr/>
          <p:nvPr/>
        </p:nvSpPr>
        <p:spPr>
          <a:xfrm>
            <a:off x="5943600" y="274320"/>
            <a:ext cx="27432" cy="192024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1"/>
          <p:cNvSpPr/>
          <p:nvPr/>
        </p:nvSpPr>
        <p:spPr>
          <a:xfrm>
            <a:off x="6492240" y="274320"/>
            <a:ext cx="27432" cy="219456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" name="Google Shape;26;p1"/>
          <p:cNvSpPr/>
          <p:nvPr/>
        </p:nvSpPr>
        <p:spPr>
          <a:xfrm>
            <a:off x="7040880" y="274320"/>
            <a:ext cx="27432" cy="246888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" name="Google Shape;27;p1"/>
          <p:cNvSpPr/>
          <p:nvPr/>
        </p:nvSpPr>
        <p:spPr>
          <a:xfrm>
            <a:off x="7589520" y="274320"/>
            <a:ext cx="27432" cy="2743200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" name="Google Shape;28;p1"/>
          <p:cNvSpPr/>
          <p:nvPr/>
        </p:nvSpPr>
        <p:spPr>
          <a:xfrm>
            <a:off x="4846320" y="457200"/>
            <a:ext cx="320040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" name="Google Shape;29;p1"/>
          <p:cNvSpPr/>
          <p:nvPr/>
        </p:nvSpPr>
        <p:spPr>
          <a:xfrm>
            <a:off x="4846320" y="1188720"/>
            <a:ext cx="283464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" name="Google Shape;30;p1"/>
          <p:cNvSpPr/>
          <p:nvPr/>
        </p:nvSpPr>
        <p:spPr>
          <a:xfrm>
            <a:off x="4846320" y="1920240"/>
            <a:ext cx="246888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1"/>
          <p:cNvSpPr/>
          <p:nvPr/>
        </p:nvSpPr>
        <p:spPr>
          <a:xfrm>
            <a:off x="4846320" y="2651760"/>
            <a:ext cx="2103120" cy="27432"/>
          </a:xfrm>
          <a:prstGeom prst="rect">
            <a:avLst/>
          </a:prstGeom>
          <a:solidFill>
            <a:srgbClr val="C8A85A">
              <a:alpha val="40000"/>
            </a:srgbClr>
          </a:solidFill>
          <a:ln w="12700" cap="flat" cmpd="sng">
            <a:solidFill>
              <a:srgbClr val="C8A85A">
                <a:alpha val="40000"/>
              </a:srgbClr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" name="Google Shape;32;p1"/>
          <p:cNvSpPr/>
          <p:nvPr/>
        </p:nvSpPr>
        <p:spPr>
          <a:xfrm>
            <a:off x="5760720" y="1463040"/>
            <a:ext cx="2286000" cy="1828800"/>
          </a:xfrm>
          <a:prstGeom prst="roundRect">
            <a:avLst>
              <a:gd name="adj" fmla="val 6000"/>
            </a:avLst>
          </a:prstGeom>
          <a:solidFill>
            <a:srgbClr val="0A2744"/>
          </a:solidFill>
          <a:ln w="25400" cap="flat" cmpd="sng">
            <a:solidFill>
              <a:srgbClr val="FFE19E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" name="Google Shape;33;p1"/>
          <p:cNvSpPr/>
          <p:nvPr/>
        </p:nvSpPr>
        <p:spPr>
          <a:xfrm>
            <a:off x="5760720" y="1737360"/>
            <a:ext cx="2286000" cy="1280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indent="0" algn="ctr" rtl="0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  <a:buClr>
                <a:srgbClr val="FFE19E"/>
              </a:buClr>
              <a:buSzPts val="2200"/>
              <a:buFont typeface="Calibri"/>
              <a:buNone/>
            </a:pPr>
            <a:r>
              <a:rPr sz="1900">
                <a:solidFill>
                  <a:srgbClr val="FFE19E"/>
                </a:solidFill>
                <a:latin typeface="Calibri"/>
              </a:rPr>
              <a:t>Walk: vision → draft plan → owners → pipeline</a:t>
            </a:r>
            <a:endParaRPr sz="2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4" name="Google Shape;34;p1"/>
          <p:cNvSpPr/>
          <p:nvPr/>
        </p:nvSpPr>
        <p:spPr>
          <a:xfrm>
            <a:off x="0" y="4850892"/>
            <a:ext cx="9144000" cy="18288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1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081F3A"/>
          </a:solidFill>
          <a:ln w="12700" cap="flat" cmpd="sng">
            <a:solidFill>
              <a:srgbClr val="081F3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1"/>
          <p:cNvSpPr/>
          <p:nvPr/>
        </p:nvSpPr>
        <p:spPr>
          <a:xfrm>
            <a:off x="274320" y="4887468"/>
            <a:ext cx="777240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6688AA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6688AA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37" name="Google Shape;37;p1"/>
          <p:cNvSpPr/>
          <p:nvPr/>
        </p:nvSpPr>
        <p:spPr>
          <a:xfrm>
            <a:off x="7863840" y="4887468"/>
            <a:ext cx="1097280" cy="20116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38b39bbdc2a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Define task — after A3 slides 1–2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4" name="Google Shape;54;g38b39bbdc2a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g38b39bbdc2a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" name="Google Shape;56;g38b39bbdc2a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7" name="Google Shape;57;g38b39bbdc2a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58" name="Google Shape;58;g38b39bbdc2a_0_10"/>
          <p:cNvSpPr txBox="1"/>
          <p:nvPr/>
        </p:nvSpPr>
        <p:spPr>
          <a:xfrm>
            <a:off x="411475" y="795525"/>
            <a:ext cx="8321100" cy="3917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1 · ~1 min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Assumption: situation and task on A3 slides 1–2 are aligned.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This walk: show vision and draft plan — validation machine, owners, QoS wedge on pipeline; co-evolve execution live (I am the deliverable, not a PDF).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After walk: A3 slides 3–4 — mandate and sponsor trust (not repeated here).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g38b39bbdc2a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Document discipline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5" name="Google Shape;65;g38b39bbdc2a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g38b39bbdc2a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7" name="Google Shape;67;g38b39bbdc2a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8" name="Google Shape;68;g38b39bbdc2a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69" name="Google Shape;69;g38b39bbdc2a_0_20"/>
          <p:cNvSpPr txBox="1"/>
          <p:nvPr/>
        </p:nvSpPr>
        <p:spPr>
          <a:xfrm>
            <a:off x="411475" y="795525"/>
            <a:ext cx="8321100" cy="325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2 · thin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Thu: A3 slides 1–2, then this deck (~6 beats).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Next: only if Sponsor directs — expand B6, swimlanes, integrated validation plans (depth and format your steer).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Not Thu: 50-page dump, full HW catalog.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g38b39bbdc2a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Validation framework (I draft v0; peers align)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6" name="Google Shape;76;g38b39bbdc2a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g38b39bbdc2a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8" name="Google Shape;78;g38b39bbdc2a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79" name="Google Shape;79;g38b39bbdc2a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0" name="Google Shape;80;g38b39bbdc2a_0_30"/>
          <p:cNvSpPr txBox="1"/>
          <p:nvPr/>
        </p:nvSpPr>
        <p:spPr>
          <a:xfrm>
            <a:off x="411475" y="795525"/>
            <a:ext cx="8321100" cy="30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2 · ~3 min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Product / customer use cases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Arch validation (AV) ↔ datapath arch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Mgmt plane — SONiC / FBOSS lands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SW validation: C-models → emulation / FPGA → silicon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SDK + SAI done with explicit gates before tape-out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I socialize v0 of done per gate for group review — not unilateral mandate.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g3d542e4bd64_0_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Who owns what (don't read every row)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87" name="Google Shape;87;g3d542e4bd64_0_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g3d542e4bd64_0_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g3d542e4bd64_0_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0" name="Google Shape;90;g3d542e4bd64_0_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1" name="Google Shape;91;g3d542e4bd64_0_0"/>
          <p:cNvSpPr txBox="1"/>
          <p:nvPr/>
        </p:nvSpPr>
        <p:spPr>
          <a:xfrm>
            <a:off x="411475" y="795525"/>
            <a:ext cx="8622000" cy="281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3 · ~2 min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Sponsor (Gururaj): exec alignment — external narrative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Validation program + QoS RM: Diwakar Tundlam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L2/L3 / ACL: Shafi Mohammad · ECMP / AV: Tippanna Hongal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SDK / SAI: SDK leads — consult, not my R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Program mesh: Prasun Sinha · HW datapath / OCP: Rupa Budhia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g3d542e4bd64_0_3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My wedge — QoS / RM (HWv1)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g3d542e4bd64_0_3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g3d542e4bd64_0_3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0" name="Google Shape;100;g3d542e4bd64_0_3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1" name="Google Shape;101;g3d542e4bd64_0_3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g3d542e4bd64_0_30"/>
          <p:cNvSpPr txBox="1"/>
          <p:nvPr/>
        </p:nvSpPr>
        <p:spPr>
          <a:xfrm>
            <a:off x="411475" y="795525"/>
            <a:ext cx="8622000" cy="1704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4 · before pipeline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VLAN-PRI, TOS/DSCP → queues → schedulers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Buffer management and carving (resource manager)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Port speed + queue/port policy coherence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ESUN — align buffer/TM with standardization (OCP)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HWv1 now: no MPLS EXP, no IPv6 priority mapping yet · HWv2: EXP + IPv6 pri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g3d542e4bd64_0_1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none" lIns="91425" tIns="45700" rIns="91425" bIns="45700" anchor="t" anchorCtr="0">
            <a:noAutofit/>
          </a:bodyPr>
          <a:lstStyle/>
          <a:p>
            <a:pPr marL="0" marR="0" indent="0" algn="l" rtl="0"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sz="2600">
                <a:solidFill>
                  <a:srgbClr val="051830"/>
                </a:solidFill>
                <a:latin typeface="Calibri"/>
              </a:rPr>
              <a:t>Your pipeline slide — my wedge (center of walk)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9" name="Google Shape;109;g3d542e4bd64_0_1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0" name="Google Shape;110;g3d542e4bd64_0_1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g3d542e4bd64_0_1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g3d542e4bd64_0_1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3" name="Google Shape;113;g3d542e4bd64_0_10"/>
          <p:cNvSpPr txBox="1"/>
          <p:nvPr/>
        </p:nvSpPr>
        <p:spPr>
          <a:xfrm>
            <a:off x="411475" y="795525"/>
            <a:ext cx="0" cy="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lvl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14" name="Picture 113" descr="logical-pipeline-boss-slid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81542" y="1508760"/>
            <a:ext cx="5780916" cy="32461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g3d542e4bd64_0_20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On the picture — blocks and validation tie-in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g3d542e4bd64_0_20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1" name="Google Shape;121;g3d542e4bd64_0_20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2" name="Google Shape;122;g3d542e4bd64_0_20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3" name="Google Shape;123;g3d542e4bd64_0_20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g3d542e4bd64_0_20"/>
          <p:cNvSpPr txBox="1"/>
          <p:nvPr/>
        </p:nvSpPr>
        <p:spPr>
          <a:xfrm>
            <a:off x="411475" y="795525"/>
            <a:ext cx="8321100" cy="281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556677"/>
                </a:solidFill>
                <a:latin typeface="Arial"/>
              </a:rPr>
              <a:t>Beat 4 · optional detail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Ingress / Parser — align parse correctness with Rupa before OCP/BCM calls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L2 — Shafi · Forward: ECMP (Tippanna), QoSMAP (me) · Egress Queue/carve (me)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Each block: AV done + SW proof (C-model → emulation) before silicon — I draft cross-block gates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g38b39bbdc2a_0_41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Defer on Thu (do not merge)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1" name="Google Shape;131;g38b39bbdc2a_0_41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g38b39bbdc2a_0_41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3" name="Google Shape;133;g38b39bbdc2a_0_41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g38b39bbdc2a_0_41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5" name="Google Shape;135;g38b39bbdc2a_0_41"/>
          <p:cNvSpPr txBox="1"/>
          <p:nvPr/>
        </p:nvSpPr>
        <p:spPr>
          <a:xfrm>
            <a:off x="411475" y="795525"/>
            <a:ext cx="8321100" cy="3032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5 · ~1 min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Rupa SDK/SAI/datapath layout — related, different plan; weekly sync, not on Thu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OCP ESUN: coordinate with Rupa before vendor calls; company position through Sponsor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Prabu execution mesh / bs-2 — round 2 unless you redirect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g38b39bbdc2a_0_51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If you want me to drive — next beats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g38b39bbdc2a_0_51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g38b39bbdc2a_0_51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4" name="Google Shape;144;g38b39bbdc2a_0_51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5" name="Google Shape;145;g38b39bbdc2a_0_51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6" name="Google Shape;146;g38b39bbdc2a_0_51"/>
          <p:cNvSpPr txBox="1"/>
          <p:nvPr/>
        </p:nvSpPr>
        <p:spPr>
          <a:xfrm>
            <a:off x="411475" y="795525"/>
            <a:ext cx="8321100" cy="1926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6 · not committed Thu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Expand B6: swimlanes, DRI depth, integrated AV / C-model / datapath / SDK / SAI validation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QoS RM HWv1 scope with HW datapath DRI (Rupa lane) — gates as we agree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Cadence: Shafi, Tippanna, Rupa, Prasun — only if Sponsor redirects execution to me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Who must be in the room — offer here if you ask (not on A3)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Shape 1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Google Shape;152;g38b39bbdc2a_0_61"/>
          <p:cNvSpPr/>
          <p:nvPr/>
        </p:nvSpPr>
        <p:spPr>
          <a:xfrm>
            <a:off x="411480" y="201168"/>
            <a:ext cx="8321100" cy="59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51830"/>
              </a:buClr>
              <a:buSzPts val="3000"/>
              <a:buFont typeface="Calibri"/>
              <a:buNone/>
            </a:pPr>
            <a:r>
              <a:rPr lang="en-US" sz="2600" b="0" i="0" u="none" strike="noStrike" cap="none">
                <a:solidFill>
                  <a:srgbClr val="051830"/>
                </a:solidFill>
                <a:latin typeface="Calibri"/>
                <a:ea typeface="Calibri"/>
                <a:cs typeface="Calibri"/>
                <a:sym typeface="Calibri"/>
              </a:rPr>
              <a:t>What Thu is not</a:t>
            </a:r>
            <a:endParaRPr sz="30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3" name="Google Shape;153;g38b39bbdc2a_0_61"/>
          <p:cNvSpPr/>
          <p:nvPr/>
        </p:nvSpPr>
        <p:spPr>
          <a:xfrm>
            <a:off x="0" y="4850892"/>
            <a:ext cx="9144000" cy="18300"/>
          </a:xfrm>
          <a:prstGeom prst="rect">
            <a:avLst/>
          </a:prstGeom>
          <a:solidFill>
            <a:srgbClr val="C8A85A"/>
          </a:solidFill>
          <a:ln w="12700" cap="flat" cmpd="sng">
            <a:solidFill>
              <a:srgbClr val="C8A85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4" name="Google Shape;154;g38b39bbdc2a_0_61"/>
          <p:cNvSpPr/>
          <p:nvPr/>
        </p:nvSpPr>
        <p:spPr>
          <a:xfrm>
            <a:off x="0" y="4869180"/>
            <a:ext cx="9144000" cy="274200"/>
          </a:xfrm>
          <a:prstGeom prst="rect">
            <a:avLst/>
          </a:prstGeom>
          <a:solidFill>
            <a:srgbClr val="F4F6FA"/>
          </a:solidFill>
          <a:ln w="12700" cap="flat" cmpd="sng">
            <a:solidFill>
              <a:srgbClr val="F4F6F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5" name="Google Shape;155;g38b39bbdc2a_0_61"/>
          <p:cNvSpPr/>
          <p:nvPr/>
        </p:nvSpPr>
        <p:spPr>
          <a:xfrm>
            <a:off x="274320" y="4887468"/>
            <a:ext cx="7772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888888"/>
              </a:buClr>
              <a:buSzPts val="700"/>
              <a:buFont typeface="Calibri"/>
              <a:buNone/>
            </a:pPr>
            <a:r>
              <a:rPr lang="en-US" sz="7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rPr>
              <a:t>© 2026 Upscale AI – Proprietary and Confidential – Do Not Reproduce or Duplicate</a:t>
            </a:r>
            <a:endParaRPr sz="7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6" name="Google Shape;156;g38b39bbdc2a_0_61"/>
          <p:cNvSpPr/>
          <p:nvPr/>
        </p:nvSpPr>
        <p:spPr>
          <a:xfrm>
            <a:off x="7863840" y="4887468"/>
            <a:ext cx="1097400" cy="201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E19E"/>
              </a:buClr>
              <a:buSzPts val="800"/>
              <a:buFont typeface="Calibri"/>
              <a:buNone/>
            </a:pPr>
            <a:r>
              <a:rPr lang="en-US" sz="8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 </a:t>
            </a:r>
            <a:r>
              <a:rPr lang="en-US" sz="900" b="1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upscale </a:t>
            </a:r>
            <a:r>
              <a:rPr lang="en-US" sz="900" b="0" i="0" u="none" strike="noStrike" cap="none">
                <a:solidFill>
                  <a:srgbClr val="FFE19E"/>
                </a:solidFill>
                <a:latin typeface="Calibri"/>
                <a:ea typeface="Calibri"/>
                <a:cs typeface="Calibri"/>
                <a:sym typeface="Calibri"/>
              </a:rPr>
              <a:t>ai</a:t>
            </a:r>
            <a:endParaRPr sz="8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7" name="Google Shape;157;g38b39bbdc2a_0_61"/>
          <p:cNvSpPr txBox="1"/>
          <p:nvPr/>
        </p:nvSpPr>
        <p:spPr>
          <a:xfrm>
            <a:off x="411475" y="795525"/>
            <a:ext cx="8321100" cy="214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457200" marR="0" indent="-307975" algn="l" rtl="0">
              <a:lnSpc>
                <a:spcPct val="115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250"/>
              <a:buFont typeface="Arial"/>
              <a:buChar char="●"/>
            </a:pPr>
            <a:r>
              <a:rPr sz="1300">
                <a:solidFill>
                  <a:srgbClr val="333333"/>
                </a:solidFill>
                <a:latin typeface="Arial"/>
              </a:rPr>
              <a:t>Beat 5–6</a:t>
            </a:r>
            <a:endParaRPr sz="1250" b="0" i="0" u="none" strike="noStrike" cap="non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/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Not C40 / full HW digest · Not SDK program ownership day one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Not AI/token policy · Not a second 50-pager — walkable backup only</a:t>
            </a:r>
          </a:p>
          <a:p>
            <a:pPr/>
            <a:r>
              <a:rPr sz="1300">
                <a:solidFill>
                  <a:srgbClr val="333333"/>
                </a:solidFill>
                <a:latin typeface="Arial"/>
              </a:rPr>
              <a:t>Whiteboard backup: assets/dt100-whiteboards.md (only if asked)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D63CE4F5B33B9B47BA16A8D82636783D" ma:contentTypeVersion="15" ma:contentTypeDescription="Create a new document." ma:contentTypeScope="" ma:versionID="3f5d8ee684fd6382a1a7264cb2ced548">
  <xsd:schema xmlns:xsd="http://www.w3.org/2001/XMLSchema" xmlns:xs="http://www.w3.org/2001/XMLSchema" xmlns:p="http://schemas.microsoft.com/office/2006/metadata/properties" xmlns:ns2="fb6a68c4-ab8f-4ba3-a895-6ac835c17b7e" xmlns:ns3="02831a02-8e16-4ec9-bd65-59388d77e3b2" targetNamespace="http://schemas.microsoft.com/office/2006/metadata/properties" ma:root="true" ma:fieldsID="5a953b81592bcab817634265e9ab1dd5" ns2:_="" ns3:_="">
    <xsd:import namespace="fb6a68c4-ab8f-4ba3-a895-6ac835c17b7e"/>
    <xsd:import namespace="02831a02-8e16-4ec9-bd65-59388d77e3b2"/>
    <xsd:element name="properties">
      <xsd:complexType>
        <xsd:sequence>
          <xsd:element name="documentManagement">
            <xsd:complexType>
              <xsd:all>
                <xsd:element ref="ns2:MigrationSourceID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DateTaken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igrationWizId" minOccurs="0"/>
                <xsd:element ref="ns3:MigrationWizIdPermissions" minOccurs="0"/>
                <xsd:element ref="ns3:MigrationWizIdVersion" minOccurs="0"/>
                <xsd:element ref="ns3:lcf76f155ced4ddcb4097134ff3c332f" minOccurs="0"/>
                <xsd:element ref="ns2:TaxCatchAll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b6a68c4-ab8f-4ba3-a895-6ac835c17b7e" elementFormDefault="qualified">
    <xsd:import namespace="http://schemas.microsoft.com/office/2006/documentManagement/types"/>
    <xsd:import namespace="http://schemas.microsoft.com/office/infopath/2007/PartnerControls"/>
    <xsd:element name="MigrationSourceID" ma:index="8" nillable="true" ma:displayName="MigrationSourceID" ma:internalName="MigrationSourceID" ma:readOnly="true">
      <xsd:simpleType>
        <xsd:restriction base="dms:Text"/>
      </xsd:simpleType>
    </xsd:element>
    <xsd:element name="TaxCatchAll" ma:index="21" nillable="true" ma:displayName="Taxonomy Catch All Column" ma:hidden="true" ma:list="{39f00500-20d3-4015-8ed4-d465b76ab46e}" ma:internalName="TaxCatchAll" ma:showField="CatchAllData" ma:web="fb6a68c4-ab8f-4ba3-a895-6ac835c17b7e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2831a02-8e16-4ec9-bd65-59388d77e3b2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DateTaken" ma:index="12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4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15" nillable="true" ma:displayName="MediaLengthInSeconds" ma:hidden="true" ma:internalName="MediaLengthInSeconds" ma:readOnly="true">
      <xsd:simpleType>
        <xsd:restriction base="dms:Unknown"/>
      </xsd:simpleType>
    </xsd:element>
    <xsd:element name="MigrationWizId" ma:index="16" nillable="true" ma:displayName="MigrationWizId" ma:internalName="MigrationWizId">
      <xsd:simpleType>
        <xsd:restriction base="dms:Text"/>
      </xsd:simpleType>
    </xsd:element>
    <xsd:element name="MigrationWizIdPermissions" ma:index="17" nillable="true" ma:displayName="MigrationWizIdPermissions" ma:internalName="MigrationWizIdPermissions">
      <xsd:simpleType>
        <xsd:restriction base="dms:Text"/>
      </xsd:simpleType>
    </xsd:element>
    <xsd:element name="MigrationWizIdVersion" ma:index="18" nillable="true" ma:displayName="MigrationWizIdVersion" ma:internalName="MigrationWizIdVersion">
      <xsd:simpleType>
        <xsd:restriction base="dms:Text"/>
      </xsd:simpleType>
    </xsd:element>
    <xsd:element name="lcf76f155ced4ddcb4097134ff3c332f" ma:index="20" nillable="true" ma:taxonomy="true" ma:internalName="lcf76f155ced4ddcb4097134ff3c332f" ma:taxonomyFieldName="MediaServiceImageTags" ma:displayName="Image Tags" ma:readOnly="false" ma:fieldId="{5cf76f15-5ced-4ddc-b409-7134ff3c332f}" ma:taxonomyMulti="true" ma:sspId="5568d06a-9151-4f9f-a28d-684c52c13878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2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MigrationSourceID xmlns="fb6a68c4-ab8f-4ba3-a895-6ac835c17b7e">1kv6CIXj2YO96Z9sh70NFdV8FGzdxTmcr</MigrationSourceID>
    <MigrationWizIdPermissions xmlns="02831a02-8e16-4ec9-bd65-59388d77e3b2" xsi:nil="true"/>
    <MigrationWizIdVersion xmlns="02831a02-8e16-4ec9-bd65-59388d77e3b2" xsi:nil="true"/>
    <MigrationWizId xmlns="02831a02-8e16-4ec9-bd65-59388d77e3b2" xsi:nil="true"/>
    <lcf76f155ced4ddcb4097134ff3c332f xmlns="02831a02-8e16-4ec9-bd65-59388d77e3b2">
      <Terms xmlns="http://schemas.microsoft.com/office/infopath/2007/PartnerControls"/>
    </lcf76f155ced4ddcb4097134ff3c332f>
    <TaxCatchAll xmlns="fb6a68c4-ab8f-4ba3-a895-6ac835c17b7e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E7F9CACF-705F-4DAF-B572-0A458E8DBAC7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fb6a68c4-ab8f-4ba3-a895-6ac835c17b7e"/>
    <ds:schemaRef ds:uri="02831a02-8e16-4ec9-bd65-59388d77e3b2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E3908B21-CBA9-4FB3-99DD-253C12A6A26A}">
  <ds:schemaRefs>
    <ds:schemaRef ds:uri="http://schemas.microsoft.com/office/2006/metadata/properties"/>
    <ds:schemaRef ds:uri="http://schemas.microsoft.com/office/infopath/2007/PartnerControls"/>
    <ds:schemaRef ds:uri="fb6a68c4-ab8f-4ba3-a895-6ac835c17b7e"/>
    <ds:schemaRef ds:uri="02831a02-8e16-4ec9-bd65-59388d77e3b2"/>
  </ds:schemaRefs>
</ds:datastoreItem>
</file>

<file path=customXml/itemProps3.xml><?xml version="1.0" encoding="utf-8"?>
<ds:datastoreItem xmlns:ds="http://schemas.openxmlformats.org/officeDocument/2006/customXml" ds:itemID="{F309101F-597A-4913-BCA7-C230F0E946F0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Application>Microsoft Office PowerPoint</Application>
  <PresentationFormat>On-screen Show (16:9)</PresentationFormat>
  <Slides>32</Slides>
  <Notes>32</Notes>
  <HiddenSlides>0</HiddenSlide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Girish Kalele</dc:creator>
  <cp:revision>1</cp:revision>
  <dcterms:created xsi:type="dcterms:W3CDTF">2026-03-27T17:55:03Z</dcterms:created>
  <dcterms:modified xsi:type="dcterms:W3CDTF">2026-06-04T18:38:57Z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0x010100D63CE4F5B33B9B47BA16A8D82636783D</vt:lpwstr>
  </property>
</Properties>
</file>