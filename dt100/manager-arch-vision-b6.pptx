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37"/>
  </p:notesMasterIdLst>
  <p:sldIdLst>
    <p:sldId id="256" r:id="rId5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h9pMNojvmZd7sLzoI35cKCZ+b9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37" Type="http://schemas.openxmlformats.org/officeDocument/2006/relationships/notesMaster" Target="notesMasters/notesMaster1.xml"/><Relationship Id="rId38" Type="http://customschemas.google.com/relationships/presentationmetadata" Target="metadata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8b39bbdc2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g38b39bbdc2a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" name="Google Shape;51;g38b39bbdc2a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8b39bbdc2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38b39bbdc2a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g38b39bbdc2a_0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b39bbdc2a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38b39bbdc2a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" name="Google Shape;73;g38b39bbdc2a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542e4bd6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g3d542e4bd6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g3d542e4bd6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542e4bd64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3d542e4bd64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3d542e4bd64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542e4bd6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d542e4bd64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g3d542e4bd64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542e4bd6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3d542e4bd64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g3d542e4bd64_0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b39bbdc2a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38b39bbdc2a_0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g38b39bbdc2a_0_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b39bbdc2a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38b39bbdc2a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g38b39bbdc2a_0_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b39bbdc2a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8b39bbdc2a_0_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g38b39bbdc2a_0_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b39bbdc2a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8b39bbdc2a_0_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g38b39bbdc2a_0_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83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 </a:t>
            </a:r>
            <a:r>
              <a:rPr lang="en-US" sz="22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22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1828800"/>
            <a:ext cx="3200400" cy="36576"/>
          </a:xfrm>
          <a:prstGeom prst="rect">
            <a:avLst/>
          </a:prstGeom>
          <a:solidFill>
            <a:srgbClr val="FFE19E"/>
          </a:solidFill>
          <a:ln w="12700" cap="flat" cmpd="sng">
            <a:solidFill>
              <a:srgbClr val="FFE1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1965960"/>
            <a:ext cx="43891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50" b="0" i="1" u="none" strike="noStrike" cap="none">
                <a:solidFill>
                  <a:srgbClr val="FEDB8D"/>
                </a:solidFill>
                <a:latin typeface="Arial"/>
                <a:ea typeface="Arial"/>
                <a:cs typeface="Arial"/>
                <a:sym typeface="Arial"/>
              </a:rPr>
              <a:t>Arch vision plan (B6)</a:t>
            </a:r>
            <a:endParaRPr sz="1950" b="0" i="1" u="none" strike="noStrike" cap="none">
              <a:solidFill>
                <a:srgbClr val="FEDB8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50" b="0" i="1" u="none" strike="noStrike" cap="none">
                <a:solidFill>
                  <a:srgbClr val="FEDB8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sz="2600" b="0" i="1" u="none" strike="noStrike" cap="none">
              <a:solidFill>
                <a:srgbClr val="FFE1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33832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Open after Yes on A3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37490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88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778899"/>
                </a:solidFill>
                <a:latin typeface="Calibri"/>
                <a:ea typeface="Calibri"/>
                <a:cs typeface="Calibri"/>
                <a:sym typeface="Calibri"/>
              </a:rPr>
              <a:t>Confidential — Upscale AI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0" y="0"/>
            <a:ext cx="4572000" cy="4869180"/>
          </a:xfrm>
          <a:prstGeom prst="rect">
            <a:avLst/>
          </a:prstGeom>
          <a:solidFill>
            <a:srgbClr val="071E35"/>
          </a:solidFill>
          <a:ln w="12700" cap="flat" cmpd="sng">
            <a:solidFill>
              <a:srgbClr val="071E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846320" y="274320"/>
            <a:ext cx="27432" cy="137160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394960" y="274320"/>
            <a:ext cx="27432" cy="164592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943600" y="274320"/>
            <a:ext cx="27432" cy="192024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492240" y="274320"/>
            <a:ext cx="27432" cy="219456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040880" y="274320"/>
            <a:ext cx="27432" cy="246888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589520" y="274320"/>
            <a:ext cx="27432" cy="274320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846320" y="457200"/>
            <a:ext cx="3200400" cy="27432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846320" y="1188720"/>
            <a:ext cx="2834640" cy="27432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846320" y="1920240"/>
            <a:ext cx="2468880" cy="27432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846320" y="2651760"/>
            <a:ext cx="2103120" cy="27432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760720" y="1463040"/>
            <a:ext cx="2286000" cy="1828800"/>
          </a:xfrm>
          <a:prstGeom prst="roundRect">
            <a:avLst>
              <a:gd name="adj" fmla="val 6000"/>
            </a:avLst>
          </a:prstGeom>
          <a:solidFill>
            <a:srgbClr val="0A2744"/>
          </a:solidFill>
          <a:ln w="25400" cap="flat" cmpd="sng">
            <a:solidFill>
              <a:srgbClr val="FFE1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760720" y="1737360"/>
            <a:ext cx="22860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Walk: machine → owners → pipeline → defer → Cx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0" y="4850892"/>
            <a:ext cx="9144000" cy="18288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81F3A"/>
          </a:solidFill>
          <a:ln w="12700" cap="flat" cmpd="sng">
            <a:solidFill>
              <a:srgbClr val="081F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274320" y="4887468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88AA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6688AA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7863840" y="48874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8b39bbdc2a_0_1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Define task — after A3 slides 1–2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8b39bbdc2a_0_1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8b39bbdc2a_0_1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8b39bbdc2a_0_1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8b39bbdc2a_0_1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8b39bbdc2a_0_10"/>
          <p:cNvSpPr txBox="1"/>
          <p:nvPr/>
        </p:nvSpPr>
        <p:spPr>
          <a:xfrm>
            <a:off x="411475" y="795525"/>
            <a:ext cx="8321100" cy="39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>
                <a:solidFill>
                  <a:srgbClr val="333333"/>
                </a:solidFill>
              </a:rPr>
              <a:t>Beat 1 · ~1 min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</a:p>
          <a:p>
            <a:pPr/>
            <a:r>
              <a:rPr>
                <a:solidFill>
                  <a:srgbClr val="333333"/>
                </a:solidFill>
              </a:rPr>
              <a:t>Assumption: situation and task on A3 slides 1–2 are aligned.</a:t>
            </a:r>
          </a:p>
          <a:p>
            <a:pPr/>
            <a:r>
              <a:rPr>
                <a:solidFill>
                  <a:srgbClr val="333333"/>
                </a:solidFill>
              </a:rPr>
              <a:t>This walk: define the task — validation machine, owners, QoS wedge on pipeline — deferrals and Cx.</a:t>
            </a:r>
          </a:p>
          <a:p>
            <a:pPr/>
            <a:r>
              <a:rPr>
                <a:solidFill>
                  <a:srgbClr val="333333"/>
                </a:solidFill>
              </a:rPr>
              <a:t>After walk: A3 slides 3–4 — result and sponsorship (not repeated here).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b39bbdc2a_0_2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Document discipline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8b39bbdc2a_0_2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8b39bbdc2a_0_2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8b39bbdc2a_0_2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8b39bbdc2a_0_2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g38b39bbdc2a_0_20"/>
          <p:cNvSpPr txBox="1"/>
          <p:nvPr/>
        </p:nvSpPr>
        <p:spPr>
          <a:xfrm>
            <a:off x="411475" y="795525"/>
            <a:ext cx="8321100" cy="32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>
                <a:solidFill>
                  <a:srgbClr val="333333"/>
                </a:solidFill>
              </a:rPr>
              <a:t>Beat 2 · thin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</a:p>
          <a:p>
            <a:pPr/>
            <a:r>
              <a:rPr>
                <a:solidFill>
                  <a:srgbClr val="333333"/>
                </a:solidFill>
              </a:rPr>
              <a:t>Thu: A3 slides 1–2, then this deck (~6 beats).</a:t>
            </a:r>
          </a:p>
          <a:p>
            <a:pPr/>
            <a:r>
              <a:rPr>
                <a:solidFill>
                  <a:srgbClr val="333333"/>
                </a:solidFill>
              </a:rPr>
              <a:t>Next: Cx 2-pager — decisions, gates, open issues (~2 weeks).</a:t>
            </a:r>
          </a:p>
          <a:p>
            <a:pPr/>
            <a:r>
              <a:rPr>
                <a:solidFill>
                  <a:srgbClr val="333333"/>
                </a:solidFill>
              </a:rPr>
              <a:t>Not Thu: 50-page dump, full HW catalog.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b39bbdc2a_0_3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Validation framework (I draft v0; peers align)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g38b39bbdc2a_0_3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g38b39bbdc2a_0_3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8b39bbdc2a_0_3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8b39bbdc2a_0_3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8b39bbdc2a_0_30"/>
          <p:cNvSpPr txBox="1"/>
          <p:nvPr/>
        </p:nvSpPr>
        <p:spPr>
          <a:xfrm>
            <a:off x="411475" y="795525"/>
            <a:ext cx="8321100" cy="30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>
                <a:solidFill>
                  <a:srgbClr val="333333"/>
                </a:solidFill>
              </a:rPr>
              <a:t>Beat 2 · ~3 min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</a:p>
          <a:p>
            <a:pPr/>
            <a:r>
              <a:rPr>
                <a:solidFill>
                  <a:srgbClr val="333333"/>
                </a:solidFill>
              </a:rPr>
              <a:t>Product / customer use cases</a:t>
            </a:r>
          </a:p>
          <a:p>
            <a:pPr/>
            <a:r>
              <a:rPr>
                <a:solidFill>
                  <a:srgbClr val="333333"/>
                </a:solidFill>
              </a:rPr>
              <a:t>Arch validation (AV) ↔ datapath arch</a:t>
            </a:r>
          </a:p>
          <a:p>
            <a:pPr/>
            <a:r>
              <a:rPr>
                <a:solidFill>
                  <a:srgbClr val="333333"/>
                </a:solidFill>
              </a:rPr>
              <a:t>Mgmt plane — SONiC / FBOSS lands</a:t>
            </a:r>
          </a:p>
          <a:p>
            <a:pPr/>
            <a:r>
              <a:rPr>
                <a:solidFill>
                  <a:srgbClr val="333333"/>
                </a:solidFill>
              </a:rPr>
              <a:t>SW validation: C-models → emulation / FPGA → silicon</a:t>
            </a:r>
          </a:p>
          <a:p>
            <a:pPr/>
            <a:r>
              <a:rPr>
                <a:solidFill>
                  <a:srgbClr val="333333"/>
                </a:solidFill>
              </a:rPr>
              <a:t>SDK + SAI done with explicit gates before tape-out</a:t>
            </a:r>
          </a:p>
          <a:p>
            <a:pPr/>
            <a:r>
              <a:rPr>
                <a:solidFill>
                  <a:srgbClr val="333333"/>
                </a:solidFill>
              </a:rPr>
              <a:t>I socialize v0 of done per gate for group review — not unilateral mandate.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542e4bd64_0_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Who owns what (don't read every row)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d542e4bd64_0_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d542e4bd64_0_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d542e4bd64_0_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d542e4bd64_0_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d542e4bd64_0_0"/>
          <p:cNvSpPr txBox="1"/>
          <p:nvPr/>
        </p:nvSpPr>
        <p:spPr>
          <a:xfrm>
            <a:off x="411475" y="795525"/>
            <a:ext cx="8622000" cy="28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>
                <a:solidFill>
                  <a:srgbClr val="333333"/>
                </a:solidFill>
              </a:rPr>
              <a:t>Beat 3 · ~2 min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</a:p>
          <a:p>
            <a:pPr/>
            <a:r>
              <a:rPr>
                <a:solidFill>
                  <a:srgbClr val="333333"/>
                </a:solidFill>
              </a:rPr>
              <a:t>Sponsor (Gururaj): exec alignment — external narrative</a:t>
            </a:r>
          </a:p>
          <a:p>
            <a:pPr/>
            <a:r>
              <a:rPr>
                <a:solidFill>
                  <a:srgbClr val="333333"/>
                </a:solidFill>
              </a:rPr>
              <a:t>Validation program + QoS RM: Diwakar Tundlam</a:t>
            </a:r>
          </a:p>
          <a:p>
            <a:pPr/>
            <a:r>
              <a:rPr>
                <a:solidFill>
                  <a:srgbClr val="333333"/>
                </a:solidFill>
              </a:rPr>
              <a:t>L2/L3 / ACL: Shafi Mohammad · ECMP / AV: Tippanna Hongal</a:t>
            </a:r>
          </a:p>
          <a:p>
            <a:pPr/>
            <a:r>
              <a:rPr>
                <a:solidFill>
                  <a:srgbClr val="333333"/>
                </a:solidFill>
              </a:rPr>
              <a:t>SDK / SAI: SDK leads — consult, not my R</a:t>
            </a:r>
          </a:p>
          <a:p>
            <a:pPr/>
            <a:r>
              <a:rPr>
                <a:solidFill>
                  <a:srgbClr val="333333"/>
                </a:solidFill>
              </a:rPr>
              <a:t>Program mesh: Prasun Sinha · HW datapath / OCP: Rupa Budhia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542e4bd64_0_3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My wedge — QoS / RM (HWv1)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d542e4bd64_0_3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d542e4bd64_0_3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d542e4bd64_0_3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d542e4bd64_0_3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d542e4bd64_0_30"/>
          <p:cNvSpPr txBox="1"/>
          <p:nvPr/>
        </p:nvSpPr>
        <p:spPr>
          <a:xfrm>
            <a:off x="411475" y="795525"/>
            <a:ext cx="8622000" cy="17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>
                <a:solidFill>
                  <a:srgbClr val="333333"/>
                </a:solidFill>
              </a:rPr>
              <a:t>Beat 4 · before pipeline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</a:p>
          <a:p>
            <a:pPr/>
            <a:r>
              <a:rPr>
                <a:solidFill>
                  <a:srgbClr val="333333"/>
                </a:solidFill>
              </a:rPr>
              <a:t>VLAN-PRI, TOS/DSCP → queues → schedulers</a:t>
            </a:r>
          </a:p>
          <a:p>
            <a:pPr/>
            <a:r>
              <a:rPr>
                <a:solidFill>
                  <a:srgbClr val="333333"/>
                </a:solidFill>
              </a:rPr>
              <a:t>Buffer management and carving (resource manager)</a:t>
            </a:r>
          </a:p>
          <a:p>
            <a:pPr/>
            <a:r>
              <a:rPr>
                <a:solidFill>
                  <a:srgbClr val="333333"/>
                </a:solidFill>
              </a:rPr>
              <a:t>Port speed + queue/port policy coherence</a:t>
            </a:r>
          </a:p>
          <a:p>
            <a:pPr/>
            <a:r>
              <a:rPr>
                <a:solidFill>
                  <a:srgbClr val="333333"/>
                </a:solidFill>
              </a:rPr>
              <a:t>ESUN — align buffer/TM with standardization (OCP)</a:t>
            </a:r>
          </a:p>
          <a:p>
            <a:pPr/>
            <a:r>
              <a:rPr>
                <a:solidFill>
                  <a:srgbClr val="333333"/>
                </a:solidFill>
              </a:rPr>
              <a:t>HWv1 now: no MPLS EXP, no IPv6 priority mapping yet · HWv2: EXP + IPv6 pri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542e4bd64_0_1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Your pipeline slide — my wedge (center of walk)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d542e4bd64_0_1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d542e4bd64_0_1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d542e4bd64_0_1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d542e4bd64_0_1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d542e4bd64_0_10"/>
          <p:cNvSpPr txBox="1"/>
          <p:nvPr/>
        </p:nvSpPr>
        <p:spPr>
          <a:xfrm>
            <a:off x="411475" y="795525"/>
            <a:ext cx="8321100" cy="34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>
                <a:solidFill>
                  <a:srgbClr val="333333"/>
                </a:solidFill>
              </a:rPr>
              <a:t>Beat 4 · QoSMAP + Queue/buffer carve (me) · Shafi (L2/ACL) · Tippanna (ECMP) · Rupa (parse/datapath)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Picture 113" descr="logical-pipeline-boss-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10972800" cy="61614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542e4bd64_0_2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On the picture — blocks and validation tie-in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d542e4bd64_0_2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d542e4bd64_0_2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d542e4bd64_0_2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d542e4bd64_0_2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d542e4bd64_0_20"/>
          <p:cNvSpPr txBox="1"/>
          <p:nvPr/>
        </p:nvSpPr>
        <p:spPr>
          <a:xfrm>
            <a:off x="411475" y="795525"/>
            <a:ext cx="8321100" cy="28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>
                <a:solidFill>
                  <a:srgbClr val="556677"/>
                </a:solidFill>
              </a:rPr>
              <a:t>Beat 4 · optional detail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</a:p>
          <a:p>
            <a:pPr/>
            <a:r>
              <a:rPr>
                <a:solidFill>
                  <a:srgbClr val="333333"/>
                </a:solidFill>
              </a:rPr>
              <a:t>Ingress / Parser — align parse correctness with Rupa before OCP/BCM calls</a:t>
            </a:r>
          </a:p>
          <a:p>
            <a:pPr/>
            <a:r>
              <a:rPr>
                <a:solidFill>
                  <a:srgbClr val="333333"/>
                </a:solidFill>
              </a:rPr>
              <a:t>L2 — Shafi · Forward: ECMP (Tippanna), QoSMAP (me) · Egress Queue/carve (me)</a:t>
            </a:r>
          </a:p>
          <a:p>
            <a:pPr/>
            <a:r>
              <a:rPr>
                <a:solidFill>
                  <a:srgbClr val="333333"/>
                </a:solidFill>
              </a:rPr>
              <a:t>Each block: AV done + SW proof (C-model → emulation) before silicon — I draft cross-block gates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b39bbdc2a_0_41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Defer on Thu (do not merge)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8b39bbdc2a_0_41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8b39bbdc2a_0_41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8b39bbdc2a_0_41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8b39bbdc2a_0_41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8b39bbdc2a_0_41"/>
          <p:cNvSpPr txBox="1"/>
          <p:nvPr/>
        </p:nvSpPr>
        <p:spPr>
          <a:xfrm>
            <a:off x="411475" y="795525"/>
            <a:ext cx="8321100" cy="30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>
                <a:solidFill>
                  <a:srgbClr val="333333"/>
                </a:solidFill>
              </a:rPr>
              <a:t>Beat 5 · ~1 min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</a:p>
          <a:p>
            <a:pPr/>
            <a:r>
              <a:rPr>
                <a:solidFill>
                  <a:srgbClr val="333333"/>
                </a:solidFill>
              </a:rPr>
              <a:t>Rupa SDK/SAI/datapath layout — related, different plan; weekly sync, not on Thu</a:t>
            </a:r>
          </a:p>
          <a:p>
            <a:pPr/>
            <a:r>
              <a:rPr>
                <a:solidFill>
                  <a:srgbClr val="333333"/>
                </a:solidFill>
              </a:rPr>
              <a:t>OCP ESUN: coordinate with Rupa before vendor calls; company position through Sponsor</a:t>
            </a:r>
          </a:p>
          <a:p>
            <a:pPr/>
            <a:r>
              <a:rPr>
                <a:solidFill>
                  <a:srgbClr val="333333"/>
                </a:solidFill>
              </a:rPr>
              <a:t>Prabu execution mesh / bs-2 — round 2 unless you redirect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b39bbdc2a_0_51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~2 weeks — Cx 2-pager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8b39bbdc2a_0_51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8b39bbdc2a_0_51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8b39bbdc2a_0_51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8b39bbdc2a_0_51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8b39bbdc2a_0_51"/>
          <p:cNvSpPr txBox="1"/>
          <p:nvPr/>
        </p:nvSpPr>
        <p:spPr>
          <a:xfrm>
            <a:off x="411475" y="795525"/>
            <a:ext cx="8321100" cy="19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>
                <a:solidFill>
                  <a:srgbClr val="333333"/>
                </a:solidFill>
              </a:rPr>
              <a:t>Beat 6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</a:p>
          <a:p>
            <a:pPr/>
            <a:r>
              <a:rPr>
                <a:solidFill>
                  <a:srgbClr val="333333"/>
                </a:solidFill>
              </a:rPr>
              <a:t>Decision: validation gate definitions (C-model / emu / pre-tapeout) v0</a:t>
            </a:r>
          </a:p>
          <a:p>
            <a:pPr/>
            <a:r>
              <a:rPr>
                <a:solidFill>
                  <a:srgbClr val="333333"/>
                </a:solidFill>
              </a:rPr>
              <a:t>Decision: QoS RM HWv1 scope sign-off with HW datapath DRI</a:t>
            </a:r>
          </a:p>
          <a:p>
            <a:pPr/>
            <a:r>
              <a:rPr>
                <a:solidFill>
                  <a:srgbClr val="333333"/>
                </a:solidFill>
              </a:rPr>
              <a:t>Open: access to models, lab, repos · Actions: cadence with Shafi, Tippanna, Rupa, Prasun</a:t>
            </a:r>
          </a:p>
          <a:p>
            <a:pPr/>
            <a:r>
              <a:rPr>
                <a:solidFill>
                  <a:srgbClr val="333333"/>
                </a:solidFill>
              </a:rPr>
              <a:t>If asked who must be in the room — offer here (not on A3)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b39bbdc2a_0_61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What Thu is not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8b39bbdc2a_0_61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8b39bbdc2a_0_61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8b39bbdc2a_0_61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8b39bbdc2a_0_61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8b39bbdc2a_0_61"/>
          <p:cNvSpPr txBox="1"/>
          <p:nvPr/>
        </p:nvSpPr>
        <p:spPr>
          <a:xfrm>
            <a:off x="411475" y="795525"/>
            <a:ext cx="8321100" cy="21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>
                <a:solidFill>
                  <a:srgbClr val="333333"/>
                </a:solidFill>
              </a:rPr>
              <a:t>Beat 5–6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</a:p>
          <a:p>
            <a:pPr/>
            <a:r>
              <a:rPr>
                <a:solidFill>
                  <a:srgbClr val="333333"/>
                </a:solidFill>
              </a:rPr>
              <a:t>Not C40 / full HW digest · Not SDK program ownership day one</a:t>
            </a:r>
          </a:p>
          <a:p>
            <a:pPr/>
            <a:r>
              <a:rPr>
                <a:solidFill>
                  <a:srgbClr val="333333"/>
                </a:solidFill>
              </a:rPr>
              <a:t>Not AI/token policy · Not a second 50-pager — walkable backup only</a:t>
            </a:r>
          </a:p>
          <a:p>
            <a:pPr/>
            <a:r>
              <a:rPr>
                <a:solidFill>
                  <a:srgbClr val="333333"/>
                </a:solidFill>
              </a:rPr>
              <a:t>Whiteboard backup: assets/dt100-whiteboards.md (only if asked)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b39bbdc2a_0_79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Trap to CPU Capability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8b39bbdc2a_0_79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8b39bbdc2a_0_79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8b39bbdc2a_0_79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8b39bbdc2a_0_79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8b39bbdc2a_0_79"/>
          <p:cNvSpPr txBox="1"/>
          <p:nvPr/>
        </p:nvSpPr>
        <p:spPr>
          <a:xfrm>
            <a:off x="411475" y="795525"/>
            <a:ext cx="8321100" cy="39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 lang="en-US" sz="1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matched packet is not forwarded; the full original packet is delivered entirely to CPU with no truncation.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79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 lang="en-US" sz="1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Any route prefix, MAC address, or neighbor entry can individually be designated to trap matching packets to CPU, each with its own source tag.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79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 lang="en-US" sz="1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group of routes sharing a common nexthop can all be trapped with a single designation; changing the group's trap setting takes effect for all routes in the group simultaneously.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79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 lang="en-US" sz="1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ACL rule can override the forwarding decision and redirect a matching packet to CPU, regardless of what the forwarding table resolves to.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79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 lang="en-US" sz="1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trapped packet carries a 4-bit trap reason in the forwarding metadata delivered alongside the full original packet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79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 lang="en-US" sz="1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trap reason is independently mapped to one of 4 CPU queue priorities, overriding any normal QoS classification for trapped packets.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79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 lang="en-US" sz="1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Trap uses dedicated CPU queues (OQ 0–3), completely separate from copy to CPU queues (OQ 4–7).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79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 lang="en-US" sz="1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Trap and copy to CPU are independent delivery paths; both can fire simultaneously for the same packet, producing two independent deliveries to the CPU.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79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 lang="en-US" sz="1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Trapped packets can optionally carry a 32B ingress metadata header providing source port, ingress VLAN, and pipeline state to the CPU.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79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 lang="en-US" sz="1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rate limiting: every packet matching a trap designation is delivered unconditionally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3CE4F5B33B9B47BA16A8D82636783D" ma:contentTypeVersion="15" ma:contentTypeDescription="Create a new document." ma:contentTypeScope="" ma:versionID="3f5d8ee684fd6382a1a7264cb2ced548">
  <xsd:schema xmlns:xsd="http://www.w3.org/2001/XMLSchema" xmlns:xs="http://www.w3.org/2001/XMLSchema" xmlns:p="http://schemas.microsoft.com/office/2006/metadata/properties" xmlns:ns2="fb6a68c4-ab8f-4ba3-a895-6ac835c17b7e" xmlns:ns3="02831a02-8e16-4ec9-bd65-59388d77e3b2" targetNamespace="http://schemas.microsoft.com/office/2006/metadata/properties" ma:root="true" ma:fieldsID="5a953b81592bcab817634265e9ab1dd5" ns2:_="" ns3:_="">
    <xsd:import namespace="fb6a68c4-ab8f-4ba3-a895-6ac835c17b7e"/>
    <xsd:import namespace="02831a02-8e16-4ec9-bd65-59388d77e3b2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igrationWizId" minOccurs="0"/>
                <xsd:element ref="ns3:MigrationWizIdPermissions" minOccurs="0"/>
                <xsd:element ref="ns3:MigrationWizIdVersion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6a68c4-ab8f-4ba3-a895-6ac835c17b7e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1" nillable="true" ma:displayName="Taxonomy Catch All Column" ma:hidden="true" ma:list="{39f00500-20d3-4015-8ed4-d465b76ab46e}" ma:internalName="TaxCatchAll" ma:showField="CatchAllData" ma:web="fb6a68c4-ab8f-4ba3-a895-6ac835c17b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831a02-8e16-4ec9-bd65-59388d77e3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igrationWizId" ma:index="16" nillable="true" ma:displayName="MigrationWizId" ma:internalName="MigrationWizId">
      <xsd:simpleType>
        <xsd:restriction base="dms:Text"/>
      </xsd:simpleType>
    </xsd:element>
    <xsd:element name="MigrationWizIdPermissions" ma:index="17" nillable="true" ma:displayName="MigrationWizIdPermissions" ma:internalName="MigrationWizIdPermissions">
      <xsd:simpleType>
        <xsd:restriction base="dms:Text"/>
      </xsd:simpleType>
    </xsd:element>
    <xsd:element name="MigrationWizIdVersion" ma:index="18" nillable="true" ma:displayName="MigrationWizIdVersion" ma:internalName="MigrationWizIdVersion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5568d06a-9151-4f9f-a28d-684c52c138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SourceID xmlns="fb6a68c4-ab8f-4ba3-a895-6ac835c17b7e">1kv6CIXj2YO96Z9sh70NFdV8FGzdxTmcr</MigrationSourceID>
    <MigrationWizIdPermissions xmlns="02831a02-8e16-4ec9-bd65-59388d77e3b2" xsi:nil="true"/>
    <MigrationWizIdVersion xmlns="02831a02-8e16-4ec9-bd65-59388d77e3b2" xsi:nil="true"/>
    <MigrationWizId xmlns="02831a02-8e16-4ec9-bd65-59388d77e3b2" xsi:nil="true"/>
    <lcf76f155ced4ddcb4097134ff3c332f xmlns="02831a02-8e16-4ec9-bd65-59388d77e3b2">
      <Terms xmlns="http://schemas.microsoft.com/office/infopath/2007/PartnerControls"/>
    </lcf76f155ced4ddcb4097134ff3c332f>
    <TaxCatchAll xmlns="fb6a68c4-ab8f-4ba3-a895-6ac835c17b7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7F9CACF-705F-4DAF-B572-0A458E8DBA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6a68c4-ab8f-4ba3-a895-6ac835c17b7e"/>
    <ds:schemaRef ds:uri="02831a02-8e16-4ec9-bd65-59388d77e3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908B21-CBA9-4FB3-99DD-253C12A6A26A}">
  <ds:schemaRefs>
    <ds:schemaRef ds:uri="http://schemas.microsoft.com/office/2006/metadata/properties"/>
    <ds:schemaRef ds:uri="http://schemas.microsoft.com/office/infopath/2007/PartnerControls"/>
    <ds:schemaRef ds:uri="fb6a68c4-ab8f-4ba3-a895-6ac835c17b7e"/>
    <ds:schemaRef ds:uri="02831a02-8e16-4ec9-bd65-59388d77e3b2"/>
  </ds:schemaRefs>
</ds:datastoreItem>
</file>

<file path=customXml/itemProps3.xml><?xml version="1.0" encoding="utf-8"?>
<ds:datastoreItem xmlns:ds="http://schemas.openxmlformats.org/officeDocument/2006/customXml" ds:itemID="{F309101F-597A-4913-BCA7-C230F0E946F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32</Slides>
  <Notes>32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Girish Kalele</dc:creator>
  <cp:revision>1</cp:revision>
  <dcterms:created xsi:type="dcterms:W3CDTF">2026-03-27T17:55:03Z</dcterms:created>
  <dcterms:modified xsi:type="dcterms:W3CDTF">2026-06-04T18:38:57Z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0x010100D63CE4F5B33B9B47BA16A8D82636783D</vt:lpwstr>
  </property>
</Properties>
</file>