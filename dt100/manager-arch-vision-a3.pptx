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metadata" ContentType="application/binary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48" r:id="rId4"/>
  </p:sldMasterIdLst>
  <p:notesMasterIdLst>
    <p:notesMasterId r:id="rId37"/>
  </p:notesMasterIdLst>
  <p:sldIdLst>
    <p:sldId id="256" r:id="rId5"/>
    <p:sldId id="258" r:id="rId7"/>
    <p:sldId id="259" r:id="rId8"/>
    <p:sldId id="260" r:id="rId9"/>
    <p:sldId id="261" r:id="rId10"/>
  </p:sldIdLst>
  <p:sldSz cx="9144000" cy="5143500" type="screen16x9"/>
  <p:notesSz cx="51435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xmlns="" r:id="rId38" roundtripDataSignature="AMtx7mh9pMNojvmZd7sLzoI35cKCZ+b9rg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" Target="slides/slide1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9" Type="http://schemas.openxmlformats.org/officeDocument/2006/relationships/slide" Target="slides/slide5.xml"/><Relationship Id="rId10" Type="http://schemas.openxmlformats.org/officeDocument/2006/relationships/slide" Target="slides/slide6.xml"/><Relationship Id="rId37" Type="http://schemas.openxmlformats.org/officeDocument/2006/relationships/notesMaster" Target="notesMasters/notesMaster1.xml"/><Relationship Id="rId38" Type="http://customschemas.google.com/relationships/presentationmetadata" Target="metadata"/><Relationship Id="rId39" Type="http://schemas.openxmlformats.org/officeDocument/2006/relationships/presProps" Target="presProps.xml"/><Relationship Id="rId40" Type="http://schemas.openxmlformats.org/officeDocument/2006/relationships/viewProps" Target="viewProps.xml"/><Relationship Id="rId41" Type="http://schemas.openxmlformats.org/officeDocument/2006/relationships/theme" Target="theme/theme1.xml"/><Relationship Id="rId42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3" name="Google Shape;13;p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r>
              <a:t>COVER (if asked)</a:t>
            </a:r>
          </a:p>
          <a:p>
            <a:r>
              <a:t>Arch vision review. Four slides + B6 backup. Confidential — Upscale AI.</a:t>
            </a:r>
          </a:p>
        </p:txBody>
      </p:sp>
      <p:sp>
        <p:nvSpPr>
          <p:cNvPr id="14" name="Google Shape;14;p1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1</a:t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g38b39bbdc2a_0_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50" name="Google Shape;50;g38b39bbdc2a_0_1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r>
              <a:t>BEFORE SLIDE 1 (~20 s)</a:t>
            </a:r>
          </a:p>
          <a:p>
            <a:r>
              <a:t>Sponsor is you — name not on deck. I am Diwakar. Align: done and validated bar + my Dynamic Switch-Buffer Management (DBM) at CSB — ESUN analogy to DLB; not Rupa datapath arch). If slides 1-2 wrong, fix before B6. Flow: 1-2 → B6 → 3-4.</a:t>
            </a:r>
          </a:p>
          <a:p/>
          <a:p>
            <a:r>
              <a:t>SLIDE 1 — do not read bullets</a:t>
            </a:r>
          </a:p>
          <a:p>
            <a:r>
              <a:t>His words: no one has looked at CSB + buffer carving — complex, needs datapath depth. He trusts I deliver CSB/carve by understanding datapath; Rupa owns datapath arch.</a:t>
            </a:r>
          </a:p>
          <a:p/>
          <a:p>
            <a:r>
              <a:t>DBM (your label, ESUN-world pair to DLB) = dynamic Switch-Buffer management at CSB: carve, queues, PFC, WRED/ECN/Pause via SDK/SAI. Rupa owns datapath arch; her pipeline slide in B6 is her seed.</a:t>
            </a:r>
          </a:p>
          <a:p/>
          <a:p>
            <a:r>
              <a:t>Story A on slide: done and validated · product · mgmt · AV · SDK/SAI · C-model→silicon. Today: scope only.</a:t>
            </a:r>
          </a:p>
          <a:p/>
          <a:p>
            <a:r>
              <a:t>INTO B6 (~5 s): his pipeline map — CSB + carve; do not own Rupa framing.</a:t>
            </a:r>
          </a:p>
        </p:txBody>
      </p:sp>
      <p:sp>
        <p:nvSpPr>
          <p:cNvPr id="51" name="Google Shape;51;g38b39bbdc2a_0_10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3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g38b39bbdc2a_0_2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1" name="Google Shape;61;g38b39bbdc2a_0_2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r>
              <a:t>SLIDE 2 — do not read bullets</a:t>
            </a:r>
          </a:p>
          <a:p>
            <a:r>
              <a:t>Program: SW done and validated — product, AV, SDK/SAI, path to silicon.</a:t>
            </a:r>
          </a:p>
          <a:p/>
          <a:p>
            <a:r>
              <a:t>Lane: QoS RM — QoSMAP, Queue, buffer carving. Peers: L2/L3 Shafi, ECMP Tippanna, SDK, Rupa.</a:t>
            </a:r>
          </a:p>
          <a:p/>
          <a:p>
            <a:r>
              <a:t>If OK → open B6 (his pipeline slide — Rupa seed; point CSB + carve).</a:t>
            </a:r>
          </a:p>
        </p:txBody>
      </p:sp>
      <p:sp>
        <p:nvSpPr>
          <p:cNvPr id="62" name="Google Shape;62;g38b39bbdc2a_0_20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4</a:t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g38b39bbdc2a_0_3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72" name="Google Shape;72;g38b39bbdc2a_0_3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r>
              <a:t>SLIDE 3 — close after B6</a:t>
            </a:r>
          </a:p>
          <a:p>
            <a:r>
              <a:t>Outcome: Cx 2-pager ~2 weeks — decisions + validation gates, not 50-page dump.</a:t>
            </a:r>
          </a:p>
          <a:p/>
          <a:p>
            <a:r>
              <a:t>Instill closed-loop SW-HW validation (use-case → models → tape-out) — tactical verbal only; see dt100/manager-arch-vision-a3-unpublished.md.</a:t>
            </a:r>
          </a:p>
          <a:p/>
          <a:p>
            <a:r>
              <a:t>Thin read usable upward. Fri edits. CSB/carve HWv1 inside Cx, not headline.</a:t>
            </a:r>
          </a:p>
          <a:p/>
          <a:p>
            <a:r>
              <a:t>AFTER B6 (~5 s): slides 3-4 — outcomes and Sponsor asks.</a:t>
            </a:r>
          </a:p>
        </p:txBody>
      </p:sp>
      <p:sp>
        <p:nvSpPr>
          <p:cNvPr id="73" name="Google Shape;73;g38b39bbdc2a_0_30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5</a:t>
            </a:fld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g3d542e4bd64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83" name="Google Shape;83;g3d542e4bd64_0_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r>
              <a:t>SLIDE 4</a:t>
            </a:r>
          </a:p>
          <a:p>
            <a:r>
              <a:t>1-2 right? Who owns slices (B6 names).</a:t>
            </a:r>
          </a:p>
          <a:p/>
          <a:p>
            <a:r>
              <a:t>Optional spoken: who chairs done-and-validated program — he Sponsor or I drive?</a:t>
            </a:r>
          </a:p>
          <a:p/>
          <a:p>
            <a:r>
              <a:t>OCP: I coordinate datapath; he owns external. Format + escalate on gates.</a:t>
            </a:r>
          </a:p>
        </p:txBody>
      </p:sp>
      <p:sp>
        <p:nvSpPr>
          <p:cNvPr id="84" name="Google Shape;84;g3d542e4bd64_0_0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6</a:t>
            </a:fld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EFAULT">
  <p:cSld name="DEFAULT">
    <p:bg>
      <p:bgPr>
        <a:solidFill>
          <a:schemeClr val="lt1"/>
        </a:solidFill>
        <a:effectLst/>
      </p:bgPr>
    </p:bg>
    <p:spTree>
      <p:nvGrpSpPr>
        <p:cNvPr id="1" name="Shape 1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51830"/>
        </a:solidFill>
        <a:effectLst/>
      </p:bgPr>
    </p:bg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1"/>
          <p:cNvSpPr/>
          <p:nvPr/>
        </p:nvSpPr>
        <p:spPr>
          <a:xfrm>
            <a:off x="457200" y="1097280"/>
            <a:ext cx="41148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E19E"/>
              </a:buClr>
              <a:buSzPts val="2200"/>
              <a:buFont typeface="Calibri"/>
              <a:buNone/>
            </a:pPr>
            <a:r>
              <a:rPr lang="en-US" sz="2200" b="1" i="0" u="none" strike="noStrike" cap="none">
                <a:solidFill>
                  <a:srgbClr val="FFE19E"/>
                </a:solidFill>
                <a:latin typeface="Calibri"/>
                <a:ea typeface="Calibri"/>
                <a:cs typeface="Calibri"/>
                <a:sym typeface="Calibri"/>
              </a:rPr>
              <a:t>UP  </a:t>
            </a:r>
            <a:r>
              <a:rPr lang="en-US" sz="2200" b="1" i="0" u="none" strike="noStrike" cap="none">
                <a:solidFill>
                  <a:srgbClr val="FFE19E"/>
                </a:solidFill>
                <a:latin typeface="Calibri"/>
                <a:ea typeface="Calibri"/>
                <a:cs typeface="Calibri"/>
                <a:sym typeface="Calibri"/>
              </a:rPr>
              <a:t>upscale </a:t>
            </a:r>
            <a:r>
              <a:rPr lang="en-US" sz="2200" b="0" i="0" u="none" strike="noStrike" cap="none">
                <a:solidFill>
                  <a:srgbClr val="FFE19E"/>
                </a:solidFill>
                <a:latin typeface="Calibri"/>
                <a:ea typeface="Calibri"/>
                <a:cs typeface="Calibri"/>
                <a:sym typeface="Calibri"/>
              </a:rPr>
              <a:t>ai</a:t>
            </a:r>
            <a:endParaRPr sz="2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" name="Google Shape;17;p1"/>
          <p:cNvSpPr/>
          <p:nvPr/>
        </p:nvSpPr>
        <p:spPr>
          <a:xfrm>
            <a:off x="457200" y="1828800"/>
            <a:ext cx="3200400" cy="36576"/>
          </a:xfrm>
          <a:prstGeom prst="rect">
            <a:avLst/>
          </a:prstGeom>
          <a:solidFill>
            <a:srgbClr val="FFE19E"/>
          </a:solidFill>
          <a:ln w="12700" cap="flat" cmpd="sng">
            <a:solidFill>
              <a:srgbClr val="FFE19E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" name="Google Shape;18;p1"/>
          <p:cNvSpPr/>
          <p:nvPr/>
        </p:nvSpPr>
        <p:spPr>
          <a:xfrm>
            <a:off x="457200" y="1965960"/>
            <a:ext cx="4389120" cy="1280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1950" b="0" i="1" u="none" strike="noStrike" cap="none">
                <a:solidFill>
                  <a:srgbClr val="FEDB8D"/>
                </a:solidFill>
                <a:latin typeface="Arial"/>
                <a:ea typeface="Arial"/>
                <a:cs typeface="Arial"/>
                <a:sym typeface="Arial"/>
              </a:rPr>
              <a:t>Arch vision</a:t>
            </a:r>
            <a:endParaRPr sz="1950" b="0" i="1" u="none" strike="noStrike" cap="none">
              <a:solidFill>
                <a:srgbClr val="FEDB8D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1950" b="0" i="1" u="none" strike="noStrike" cap="none">
                <a:solidFill>
                  <a:srgbClr val="FEDB8D"/>
                </a:solidFill>
                <a:latin typeface="Arial"/>
                <a:ea typeface="Arial"/>
                <a:cs typeface="Arial"/>
                <a:sym typeface="Arial"/>
              </a:rPr>
              <a:t/>
            </a:r>
            <a:endParaRPr sz="2600" b="0" i="1" u="none" strike="noStrike" cap="none">
              <a:solidFill>
                <a:srgbClr val="FFE19E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" name="Google Shape;19;p1"/>
          <p:cNvSpPr/>
          <p:nvPr/>
        </p:nvSpPr>
        <p:spPr>
          <a:xfrm>
            <a:off x="457200" y="3383280"/>
            <a:ext cx="3657600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ABBCC"/>
              </a:buClr>
              <a:buSzPts val="1100"/>
              <a:buFont typeface="Calibri"/>
              <a:buNone/>
            </a:pPr>
            <a:r>
              <a:rPr lang="en-US" sz="1100" b="0" i="1" u="none" strike="noStrike" cap="none">
                <a:solidFill>
                  <a:srgbClr val="AABBCC"/>
                </a:solidFill>
                <a:latin typeface="Calibri"/>
                <a:ea typeface="Calibri"/>
                <a:cs typeface="Calibri"/>
                <a:sym typeface="Calibri"/>
              </a:rPr>
              <a:t>Executive review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" name="Google Shape;20;p1"/>
          <p:cNvSpPr/>
          <p:nvPr/>
        </p:nvSpPr>
        <p:spPr>
          <a:xfrm>
            <a:off x="457200" y="3749040"/>
            <a:ext cx="365760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78899"/>
              </a:buClr>
              <a:buSzPts val="1000"/>
              <a:buFont typeface="Calibri"/>
              <a:buNone/>
            </a:pPr>
            <a:r>
              <a:rPr lang="en-US" sz="1000" b="0" i="0" u="none" strike="noStrike" cap="none">
                <a:solidFill>
                  <a:srgbClr val="778899"/>
                </a:solidFill>
                <a:latin typeface="Calibri"/>
                <a:ea typeface="Calibri"/>
                <a:cs typeface="Calibri"/>
                <a:sym typeface="Calibri"/>
              </a:rPr>
              <a:t>Confidential — Upscale AI</a:t>
            </a:r>
            <a:endParaRPr sz="1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" name="Google Shape;21;p1"/>
          <p:cNvSpPr/>
          <p:nvPr/>
        </p:nvSpPr>
        <p:spPr>
          <a:xfrm>
            <a:off x="4572000" y="0"/>
            <a:ext cx="4572000" cy="4869180"/>
          </a:xfrm>
          <a:prstGeom prst="rect">
            <a:avLst/>
          </a:prstGeom>
          <a:solidFill>
            <a:srgbClr val="071E35"/>
          </a:solidFill>
          <a:ln w="12700" cap="flat" cmpd="sng">
            <a:solidFill>
              <a:srgbClr val="071E35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" name="Google Shape;22;p1"/>
          <p:cNvSpPr/>
          <p:nvPr/>
        </p:nvSpPr>
        <p:spPr>
          <a:xfrm>
            <a:off x="4846320" y="274320"/>
            <a:ext cx="27432" cy="1371600"/>
          </a:xfrm>
          <a:prstGeom prst="rect">
            <a:avLst/>
          </a:prstGeom>
          <a:solidFill>
            <a:srgbClr val="C8A85A">
              <a:alpha val="40000"/>
            </a:srgbClr>
          </a:solidFill>
          <a:ln w="12700" cap="flat" cmpd="sng">
            <a:solidFill>
              <a:srgbClr val="C8A85A">
                <a:alpha val="40000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" name="Google Shape;23;p1"/>
          <p:cNvSpPr/>
          <p:nvPr/>
        </p:nvSpPr>
        <p:spPr>
          <a:xfrm>
            <a:off x="5394960" y="274320"/>
            <a:ext cx="27432" cy="1645920"/>
          </a:xfrm>
          <a:prstGeom prst="rect">
            <a:avLst/>
          </a:prstGeom>
          <a:solidFill>
            <a:srgbClr val="C8A85A">
              <a:alpha val="40000"/>
            </a:srgbClr>
          </a:solidFill>
          <a:ln w="12700" cap="flat" cmpd="sng">
            <a:solidFill>
              <a:srgbClr val="C8A85A">
                <a:alpha val="40000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" name="Google Shape;24;p1"/>
          <p:cNvSpPr/>
          <p:nvPr/>
        </p:nvSpPr>
        <p:spPr>
          <a:xfrm>
            <a:off x="5943600" y="274320"/>
            <a:ext cx="27432" cy="1920240"/>
          </a:xfrm>
          <a:prstGeom prst="rect">
            <a:avLst/>
          </a:prstGeom>
          <a:solidFill>
            <a:srgbClr val="C8A85A">
              <a:alpha val="40000"/>
            </a:srgbClr>
          </a:solidFill>
          <a:ln w="12700" cap="flat" cmpd="sng">
            <a:solidFill>
              <a:srgbClr val="C8A85A">
                <a:alpha val="40000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" name="Google Shape;25;p1"/>
          <p:cNvSpPr/>
          <p:nvPr/>
        </p:nvSpPr>
        <p:spPr>
          <a:xfrm>
            <a:off x="6492240" y="274320"/>
            <a:ext cx="27432" cy="2194560"/>
          </a:xfrm>
          <a:prstGeom prst="rect">
            <a:avLst/>
          </a:prstGeom>
          <a:solidFill>
            <a:srgbClr val="C8A85A">
              <a:alpha val="40000"/>
            </a:srgbClr>
          </a:solidFill>
          <a:ln w="12700" cap="flat" cmpd="sng">
            <a:solidFill>
              <a:srgbClr val="C8A85A">
                <a:alpha val="40000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" name="Google Shape;26;p1"/>
          <p:cNvSpPr/>
          <p:nvPr/>
        </p:nvSpPr>
        <p:spPr>
          <a:xfrm>
            <a:off x="7040880" y="274320"/>
            <a:ext cx="27432" cy="2468880"/>
          </a:xfrm>
          <a:prstGeom prst="rect">
            <a:avLst/>
          </a:prstGeom>
          <a:solidFill>
            <a:srgbClr val="C8A85A">
              <a:alpha val="40000"/>
            </a:srgbClr>
          </a:solidFill>
          <a:ln w="12700" cap="flat" cmpd="sng">
            <a:solidFill>
              <a:srgbClr val="C8A85A">
                <a:alpha val="40000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" name="Google Shape;27;p1"/>
          <p:cNvSpPr/>
          <p:nvPr/>
        </p:nvSpPr>
        <p:spPr>
          <a:xfrm>
            <a:off x="7589520" y="274320"/>
            <a:ext cx="27432" cy="2743200"/>
          </a:xfrm>
          <a:prstGeom prst="rect">
            <a:avLst/>
          </a:prstGeom>
          <a:solidFill>
            <a:srgbClr val="C8A85A">
              <a:alpha val="40000"/>
            </a:srgbClr>
          </a:solidFill>
          <a:ln w="12700" cap="flat" cmpd="sng">
            <a:solidFill>
              <a:srgbClr val="C8A85A">
                <a:alpha val="40000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" name="Google Shape;28;p1"/>
          <p:cNvSpPr/>
          <p:nvPr/>
        </p:nvSpPr>
        <p:spPr>
          <a:xfrm>
            <a:off x="4846320" y="457200"/>
            <a:ext cx="3200400" cy="27432"/>
          </a:xfrm>
          <a:prstGeom prst="rect">
            <a:avLst/>
          </a:prstGeom>
          <a:solidFill>
            <a:srgbClr val="C8A85A">
              <a:alpha val="40000"/>
            </a:srgbClr>
          </a:solidFill>
          <a:ln w="12700" cap="flat" cmpd="sng">
            <a:solidFill>
              <a:srgbClr val="C8A85A">
                <a:alpha val="40000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" name="Google Shape;29;p1"/>
          <p:cNvSpPr/>
          <p:nvPr/>
        </p:nvSpPr>
        <p:spPr>
          <a:xfrm>
            <a:off x="4846320" y="1188720"/>
            <a:ext cx="2834640" cy="27432"/>
          </a:xfrm>
          <a:prstGeom prst="rect">
            <a:avLst/>
          </a:prstGeom>
          <a:solidFill>
            <a:srgbClr val="C8A85A">
              <a:alpha val="40000"/>
            </a:srgbClr>
          </a:solidFill>
          <a:ln w="12700" cap="flat" cmpd="sng">
            <a:solidFill>
              <a:srgbClr val="C8A85A">
                <a:alpha val="40000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" name="Google Shape;30;p1"/>
          <p:cNvSpPr/>
          <p:nvPr/>
        </p:nvSpPr>
        <p:spPr>
          <a:xfrm>
            <a:off x="4846320" y="1920240"/>
            <a:ext cx="2468880" cy="27432"/>
          </a:xfrm>
          <a:prstGeom prst="rect">
            <a:avLst/>
          </a:prstGeom>
          <a:solidFill>
            <a:srgbClr val="C8A85A">
              <a:alpha val="40000"/>
            </a:srgbClr>
          </a:solidFill>
          <a:ln w="12700" cap="flat" cmpd="sng">
            <a:solidFill>
              <a:srgbClr val="C8A85A">
                <a:alpha val="40000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" name="Google Shape;31;p1"/>
          <p:cNvSpPr/>
          <p:nvPr/>
        </p:nvSpPr>
        <p:spPr>
          <a:xfrm>
            <a:off x="4846320" y="2651760"/>
            <a:ext cx="2103120" cy="27432"/>
          </a:xfrm>
          <a:prstGeom prst="rect">
            <a:avLst/>
          </a:prstGeom>
          <a:solidFill>
            <a:srgbClr val="C8A85A">
              <a:alpha val="40000"/>
            </a:srgbClr>
          </a:solidFill>
          <a:ln w="12700" cap="flat" cmpd="sng">
            <a:solidFill>
              <a:srgbClr val="C8A85A">
                <a:alpha val="40000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" name="Google Shape;32;p1"/>
          <p:cNvSpPr/>
          <p:nvPr/>
        </p:nvSpPr>
        <p:spPr>
          <a:xfrm>
            <a:off x="5760720" y="1463040"/>
            <a:ext cx="2286000" cy="1828800"/>
          </a:xfrm>
          <a:prstGeom prst="roundRect">
            <a:avLst>
              <a:gd name="adj" fmla="val 6000"/>
            </a:avLst>
          </a:prstGeom>
          <a:solidFill>
            <a:srgbClr val="0A2744"/>
          </a:solidFill>
          <a:ln w="25400" cap="flat" cmpd="sng">
            <a:solidFill>
              <a:srgbClr val="FFE19E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" name="Google Shape;33;p1"/>
          <p:cNvSpPr/>
          <p:nvPr/>
        </p:nvSpPr>
        <p:spPr>
          <a:xfrm>
            <a:off x="5760720" y="1737360"/>
            <a:ext cx="2286000" cy="1280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E19E"/>
              </a:buClr>
              <a:buSzPts val="2200"/>
              <a:buFont typeface="Calibri"/>
              <a:buNone/>
            </a:pPr>
            <a:r>
              <a:rPr lang="en-US" sz="2200" b="1" i="0" u="none" strike="noStrike" cap="none">
                <a:solidFill>
                  <a:srgbClr val="FFE19E"/>
                </a:solidFill>
                <a:latin typeface="Calibri"/>
                <a:ea typeface="Calibri"/>
                <a:cs typeface="Calibri"/>
                <a:sym typeface="Calibri"/>
              </a:rPr>
              <a:t>Dynamic Switch-Buffer Management</a:t>
            </a:r>
            <a:endParaRPr sz="2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E19E"/>
              </a:buClr>
              <a:buSzPts val="2200"/>
              <a:buFont typeface="Calibri"/>
              <a:buNone/>
            </a:pPr>
            <a:r>
              <a:rPr lang="en-US" sz="2200" b="1" i="0" u="none" strike="noStrike" cap="none">
                <a:solidFill>
                  <a:srgbClr val="FFE19E"/>
                </a:solidFill>
                <a:latin typeface="Calibri"/>
                <a:ea typeface="Calibri"/>
                <a:cs typeface="Calibri"/>
                <a:sym typeface="Calibri"/>
              </a:rPr>
              <a:t/>
            </a:r>
            <a:endParaRPr sz="2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" name="Google Shape;34;p1"/>
          <p:cNvSpPr/>
          <p:nvPr/>
        </p:nvSpPr>
        <p:spPr>
          <a:xfrm>
            <a:off x="0" y="4850892"/>
            <a:ext cx="9144000" cy="18288"/>
          </a:xfrm>
          <a:prstGeom prst="rect">
            <a:avLst/>
          </a:prstGeom>
          <a:solidFill>
            <a:srgbClr val="C8A85A"/>
          </a:solidFill>
          <a:ln w="12700" cap="flat" cmpd="sng">
            <a:solidFill>
              <a:srgbClr val="C8A85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" name="Google Shape;35;p1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081F3A"/>
          </a:solidFill>
          <a:ln w="12700" cap="flat" cmpd="sng">
            <a:solidFill>
              <a:srgbClr val="081F3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" name="Google Shape;36;p1"/>
          <p:cNvSpPr/>
          <p:nvPr/>
        </p:nvSpPr>
        <p:spPr>
          <a:xfrm>
            <a:off x="274320" y="4887468"/>
            <a:ext cx="7772400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688AA"/>
              </a:buClr>
              <a:buSzPts val="700"/>
              <a:buFont typeface="Calibri"/>
              <a:buNone/>
            </a:pPr>
            <a:r>
              <a:rPr lang="en-US" sz="700" b="0" i="0" u="none" strike="noStrike" cap="none">
                <a:solidFill>
                  <a:srgbClr val="6688AA"/>
                </a:solidFill>
                <a:latin typeface="Calibri"/>
                <a:ea typeface="Calibri"/>
                <a:cs typeface="Calibri"/>
                <a:sym typeface="Calibri"/>
              </a:rPr>
              <a:t>© 2026 Upscale AI – Proprietary and Confidential – Do Not Reproduce or Duplicate</a:t>
            </a:r>
            <a:endParaRPr sz="7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" name="Google Shape;37;p1"/>
          <p:cNvSpPr/>
          <p:nvPr/>
        </p:nvSpPr>
        <p:spPr>
          <a:xfrm>
            <a:off x="7863840" y="4887468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E19E"/>
              </a:buClr>
              <a:buSzPts val="800"/>
              <a:buFont typeface="Calibri"/>
              <a:buNone/>
            </a:pPr>
            <a:r>
              <a:rPr lang="en-US" sz="800" b="1" i="0" u="none" strike="noStrike" cap="none">
                <a:solidFill>
                  <a:srgbClr val="FFE19E"/>
                </a:solidFill>
                <a:latin typeface="Calibri"/>
                <a:ea typeface="Calibri"/>
                <a:cs typeface="Calibri"/>
                <a:sym typeface="Calibri"/>
              </a:rPr>
              <a:t>UP </a:t>
            </a:r>
            <a:r>
              <a:rPr lang="en-US" sz="900" b="1" i="0" u="none" strike="noStrike" cap="none">
                <a:solidFill>
                  <a:srgbClr val="FFE19E"/>
                </a:solidFill>
                <a:latin typeface="Calibri"/>
                <a:ea typeface="Calibri"/>
                <a:cs typeface="Calibri"/>
                <a:sym typeface="Calibri"/>
              </a:rPr>
              <a:t>upscale </a:t>
            </a:r>
            <a:r>
              <a:rPr lang="en-US" sz="900" b="0" i="0" u="none" strike="noStrike" cap="none">
                <a:solidFill>
                  <a:srgbClr val="FFE19E"/>
                </a:solidFill>
                <a:latin typeface="Calibri"/>
                <a:ea typeface="Calibri"/>
                <a:cs typeface="Calibri"/>
                <a:sym typeface="Calibri"/>
              </a:rPr>
              <a:t>ai</a:t>
            </a:r>
            <a:endParaRPr sz="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g38b39bbdc2a_0_10"/>
          <p:cNvSpPr/>
          <p:nvPr/>
        </p:nvSpPr>
        <p:spPr>
          <a:xfrm>
            <a:off x="411480" y="201168"/>
            <a:ext cx="8321100" cy="59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51830"/>
              </a:buClr>
              <a:buSzPts val="3000"/>
              <a:buFont typeface="Calibri"/>
              <a:buNone/>
            </a:pPr>
            <a:r>
              <a:rPr lang="en-US" sz="3000" b="0" i="0" u="none" strike="noStrike" cap="none">
                <a:solidFill>
                  <a:srgbClr val="051830"/>
                </a:solidFill>
                <a:latin typeface="Calibri"/>
                <a:ea typeface="Calibri"/>
                <a:cs typeface="Calibri"/>
                <a:sym typeface="Calibri"/>
              </a:rPr>
              <a:t>Dynamic Switch-Buffer Management</a:t>
            </a:r>
            <a:endParaRPr sz="3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4" name="Google Shape;54;g38b39bbdc2a_0_10"/>
          <p:cNvSpPr/>
          <p:nvPr/>
        </p:nvSpPr>
        <p:spPr>
          <a:xfrm>
            <a:off x="0" y="4850892"/>
            <a:ext cx="9144000" cy="18300"/>
          </a:xfrm>
          <a:prstGeom prst="rect">
            <a:avLst/>
          </a:prstGeom>
          <a:solidFill>
            <a:srgbClr val="C8A85A"/>
          </a:solidFill>
          <a:ln w="12700" cap="flat" cmpd="sng">
            <a:solidFill>
              <a:srgbClr val="C8A85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5" name="Google Shape;55;g38b39bbdc2a_0_10"/>
          <p:cNvSpPr/>
          <p:nvPr/>
        </p:nvSpPr>
        <p:spPr>
          <a:xfrm>
            <a:off x="0" y="4869180"/>
            <a:ext cx="9144000" cy="274200"/>
          </a:xfrm>
          <a:prstGeom prst="rect">
            <a:avLst/>
          </a:prstGeom>
          <a:solidFill>
            <a:srgbClr val="F4F6FA"/>
          </a:solidFill>
          <a:ln w="12700" cap="flat" cmpd="sng">
            <a:solidFill>
              <a:srgbClr val="F4F6F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6" name="Google Shape;56;g38b39bbdc2a_0_10"/>
          <p:cNvSpPr/>
          <p:nvPr/>
        </p:nvSpPr>
        <p:spPr>
          <a:xfrm>
            <a:off x="274320" y="4887468"/>
            <a:ext cx="7772400" cy="20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700"/>
              <a:buFont typeface="Calibri"/>
              <a:buNone/>
            </a:pPr>
            <a:r>
              <a:rPr lang="en-US" sz="7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rPr>
              <a:t>© 2026 Upscale AI – Proprietary and Confidential – Do Not Reproduce or Duplicate</a:t>
            </a:r>
            <a:endParaRPr sz="7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" name="Google Shape;57;g38b39bbdc2a_0_10"/>
          <p:cNvSpPr/>
          <p:nvPr/>
        </p:nvSpPr>
        <p:spPr>
          <a:xfrm>
            <a:off x="7863840" y="4887468"/>
            <a:ext cx="1097400" cy="20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E19E"/>
              </a:buClr>
              <a:buSzPts val="800"/>
              <a:buFont typeface="Calibri"/>
              <a:buNone/>
            </a:pPr>
            <a:r>
              <a:rPr lang="en-US" sz="800" b="1" i="0" u="none" strike="noStrike" cap="none">
                <a:solidFill>
                  <a:srgbClr val="FFE19E"/>
                </a:solidFill>
                <a:latin typeface="Calibri"/>
                <a:ea typeface="Calibri"/>
                <a:cs typeface="Calibri"/>
                <a:sym typeface="Calibri"/>
              </a:rPr>
              <a:t>UP </a:t>
            </a:r>
            <a:r>
              <a:rPr lang="en-US" sz="900" b="1" i="0" u="none" strike="noStrike" cap="none">
                <a:solidFill>
                  <a:srgbClr val="FFE19E"/>
                </a:solidFill>
                <a:latin typeface="Calibri"/>
                <a:ea typeface="Calibri"/>
                <a:cs typeface="Calibri"/>
                <a:sym typeface="Calibri"/>
              </a:rPr>
              <a:t>upscale </a:t>
            </a:r>
            <a:r>
              <a:rPr lang="en-US" sz="900" b="0" i="0" u="none" strike="noStrike" cap="none">
                <a:solidFill>
                  <a:srgbClr val="FFE19E"/>
                </a:solidFill>
                <a:latin typeface="Calibri"/>
                <a:ea typeface="Calibri"/>
                <a:cs typeface="Calibri"/>
                <a:sym typeface="Calibri"/>
              </a:rPr>
              <a:t>ai</a:t>
            </a:r>
            <a:endParaRPr sz="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8" name="Google Shape;58;g38b39bbdc2a_0_10"/>
          <p:cNvSpPr txBox="1"/>
          <p:nvPr/>
        </p:nvSpPr>
        <p:spPr>
          <a:xfrm>
            <a:off x="411475" y="795525"/>
            <a:ext cx="8321100" cy="391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457200" marR="0" indent="-307975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250"/>
              <a:buFont typeface="Arial"/>
              <a:buChar char="●"/>
            </a:pPr>
            <a:r>
              <a:rPr>
                <a:solidFill>
                  <a:srgbClr val="333333"/>
                </a:solidFill>
              </a:rPr>
              <a:t>Buffer carving at CSB</a:t>
            </a:r>
            <a:endParaRPr sz="125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/>
          </a:p>
          <a:p>
            <a:pPr/>
            <a:r>
              <a:rPr>
                <a:solidFill>
                  <a:srgbClr val="333333"/>
                </a:solidFill>
              </a:rPr>
              <a:t>done and validated · product · management plane · AV</a:t>
            </a:r>
          </a:p>
          <a:p>
            <a:pPr/>
            <a:r>
              <a:rPr>
                <a:solidFill>
                  <a:srgbClr val="333333"/>
                </a:solidFill>
              </a:rPr>
              <a:t>SDK/SAI · C-model → emulation → silicon</a:t>
            </a:r>
          </a:p>
          <a:p>
            <a:pPr/>
            <a:r>
              <a:rPr>
                <a:solidFill>
                  <a:srgbClr val="333333"/>
                </a:solidFill>
              </a:rPr>
              <a:t>CSB buffer carving — not datapath architecture</a:t>
            </a:r>
          </a:p>
          <a:p>
            <a:pPr/>
            <a:r>
              <a:rPr>
                <a:solidFill>
                  <a:srgbClr val="333333"/>
                </a:solidFill>
              </a:rPr>
              <a:t>Align today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g38b39bbdc2a_0_20"/>
          <p:cNvSpPr/>
          <p:nvPr/>
        </p:nvSpPr>
        <p:spPr>
          <a:xfrm>
            <a:off x="411480" y="201168"/>
            <a:ext cx="8321100" cy="59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51830"/>
              </a:buClr>
              <a:buSzPts val="3000"/>
              <a:buFont typeface="Calibri"/>
              <a:buNone/>
            </a:pPr>
            <a:r>
              <a:rPr lang="en-US" sz="3000" b="0" i="0" u="none" strike="noStrike" cap="none">
                <a:solidFill>
                  <a:srgbClr val="051830"/>
                </a:solidFill>
                <a:latin typeface="Calibri"/>
                <a:ea typeface="Calibri"/>
                <a:cs typeface="Calibri"/>
                <a:sym typeface="Calibri"/>
              </a:rPr>
              <a:t>SW done and validated before tape-out</a:t>
            </a:r>
            <a:endParaRPr sz="3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5" name="Google Shape;65;g38b39bbdc2a_0_20"/>
          <p:cNvSpPr/>
          <p:nvPr/>
        </p:nvSpPr>
        <p:spPr>
          <a:xfrm>
            <a:off x="0" y="4850892"/>
            <a:ext cx="9144000" cy="18300"/>
          </a:xfrm>
          <a:prstGeom prst="rect">
            <a:avLst/>
          </a:prstGeom>
          <a:solidFill>
            <a:srgbClr val="C8A85A"/>
          </a:solidFill>
          <a:ln w="12700" cap="flat" cmpd="sng">
            <a:solidFill>
              <a:srgbClr val="C8A85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6" name="Google Shape;66;g38b39bbdc2a_0_20"/>
          <p:cNvSpPr/>
          <p:nvPr/>
        </p:nvSpPr>
        <p:spPr>
          <a:xfrm>
            <a:off x="0" y="4869180"/>
            <a:ext cx="9144000" cy="274200"/>
          </a:xfrm>
          <a:prstGeom prst="rect">
            <a:avLst/>
          </a:prstGeom>
          <a:solidFill>
            <a:srgbClr val="F4F6FA"/>
          </a:solidFill>
          <a:ln w="12700" cap="flat" cmpd="sng">
            <a:solidFill>
              <a:srgbClr val="F4F6F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7" name="Google Shape;67;g38b39bbdc2a_0_20"/>
          <p:cNvSpPr/>
          <p:nvPr/>
        </p:nvSpPr>
        <p:spPr>
          <a:xfrm>
            <a:off x="274320" y="4887468"/>
            <a:ext cx="7772400" cy="20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700"/>
              <a:buFont typeface="Calibri"/>
              <a:buNone/>
            </a:pPr>
            <a:r>
              <a:rPr lang="en-US" sz="7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rPr>
              <a:t>© 2026 Upscale AI – Proprietary and Confidential – Do Not Reproduce or Duplicate</a:t>
            </a:r>
            <a:endParaRPr sz="7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8" name="Google Shape;68;g38b39bbdc2a_0_20"/>
          <p:cNvSpPr/>
          <p:nvPr/>
        </p:nvSpPr>
        <p:spPr>
          <a:xfrm>
            <a:off x="7863840" y="4887468"/>
            <a:ext cx="1097400" cy="20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E19E"/>
              </a:buClr>
              <a:buSzPts val="800"/>
              <a:buFont typeface="Calibri"/>
              <a:buNone/>
            </a:pPr>
            <a:r>
              <a:rPr lang="en-US" sz="800" b="1" i="0" u="none" strike="noStrike" cap="none">
                <a:solidFill>
                  <a:srgbClr val="FFE19E"/>
                </a:solidFill>
                <a:latin typeface="Calibri"/>
                <a:ea typeface="Calibri"/>
                <a:cs typeface="Calibri"/>
                <a:sym typeface="Calibri"/>
              </a:rPr>
              <a:t>UP </a:t>
            </a:r>
            <a:r>
              <a:rPr lang="en-US" sz="900" b="1" i="0" u="none" strike="noStrike" cap="none">
                <a:solidFill>
                  <a:srgbClr val="FFE19E"/>
                </a:solidFill>
                <a:latin typeface="Calibri"/>
                <a:ea typeface="Calibri"/>
                <a:cs typeface="Calibri"/>
                <a:sym typeface="Calibri"/>
              </a:rPr>
              <a:t>upscale </a:t>
            </a:r>
            <a:r>
              <a:rPr lang="en-US" sz="900" b="0" i="0" u="none" strike="noStrike" cap="none">
                <a:solidFill>
                  <a:srgbClr val="FFE19E"/>
                </a:solidFill>
                <a:latin typeface="Calibri"/>
                <a:ea typeface="Calibri"/>
                <a:cs typeface="Calibri"/>
                <a:sym typeface="Calibri"/>
              </a:rPr>
              <a:t>ai</a:t>
            </a:r>
            <a:endParaRPr sz="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9" name="Google Shape;69;g38b39bbdc2a_0_20"/>
          <p:cNvSpPr txBox="1"/>
          <p:nvPr/>
        </p:nvSpPr>
        <p:spPr>
          <a:xfrm>
            <a:off x="411475" y="795525"/>
            <a:ext cx="8321100" cy="325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457200" marR="0" indent="-307975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250"/>
              <a:buFont typeface="Arial"/>
              <a:buChar char="●"/>
            </a:pPr>
            <a:r>
              <a:rPr>
                <a:solidFill>
                  <a:srgbClr val="333333"/>
                </a:solidFill>
              </a:rPr>
              <a:t>QoSMAP · Queue · buffer carving</a:t>
            </a:r>
            <a:endParaRPr sz="125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/>
            <a:r>
              <a:rPr>
                <a:solidFill>
                  <a:srgbClr val="333333"/>
                </a:solidFill>
              </a:rPr>
              <a:t>Layer 2 / Layer 3 · ECMP — peer DRIs</a:t>
            </a:r>
          </a:p>
          <a:p>
            <a:pPr/>
            <a:r>
              <a:rPr>
                <a:solidFill>
                  <a:srgbClr val="333333"/>
                </a:solidFill>
              </a:rPr>
              <a:t>Backup deck — logical pipeline walk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g38b39bbdc2a_0_30"/>
          <p:cNvSpPr/>
          <p:nvPr/>
        </p:nvSpPr>
        <p:spPr>
          <a:xfrm>
            <a:off x="411480" y="201168"/>
            <a:ext cx="8321100" cy="59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51830"/>
              </a:buClr>
              <a:buSzPts val="3000"/>
              <a:buFont typeface="Calibri"/>
              <a:buNone/>
            </a:pPr>
            <a:r>
              <a:rPr lang="en-US" sz="3000" b="0" i="0" u="none" strike="noStrike" cap="none">
                <a:solidFill>
                  <a:srgbClr val="051830"/>
                </a:solidFill>
                <a:latin typeface="Calibri"/>
                <a:ea typeface="Calibri"/>
                <a:cs typeface="Calibri"/>
                <a:sym typeface="Calibri"/>
              </a:rPr>
              <a:t>What you get</a:t>
            </a:r>
            <a:endParaRPr sz="3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6" name="Google Shape;76;g38b39bbdc2a_0_30"/>
          <p:cNvSpPr/>
          <p:nvPr/>
        </p:nvSpPr>
        <p:spPr>
          <a:xfrm>
            <a:off x="0" y="4850892"/>
            <a:ext cx="9144000" cy="18300"/>
          </a:xfrm>
          <a:prstGeom prst="rect">
            <a:avLst/>
          </a:prstGeom>
          <a:solidFill>
            <a:srgbClr val="C8A85A"/>
          </a:solidFill>
          <a:ln w="12700" cap="flat" cmpd="sng">
            <a:solidFill>
              <a:srgbClr val="C8A85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7" name="Google Shape;77;g38b39bbdc2a_0_30"/>
          <p:cNvSpPr/>
          <p:nvPr/>
        </p:nvSpPr>
        <p:spPr>
          <a:xfrm>
            <a:off x="0" y="4869180"/>
            <a:ext cx="9144000" cy="274200"/>
          </a:xfrm>
          <a:prstGeom prst="rect">
            <a:avLst/>
          </a:prstGeom>
          <a:solidFill>
            <a:srgbClr val="F4F6FA"/>
          </a:solidFill>
          <a:ln w="12700" cap="flat" cmpd="sng">
            <a:solidFill>
              <a:srgbClr val="F4F6F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8" name="Google Shape;78;g38b39bbdc2a_0_30"/>
          <p:cNvSpPr/>
          <p:nvPr/>
        </p:nvSpPr>
        <p:spPr>
          <a:xfrm>
            <a:off x="274320" y="4887468"/>
            <a:ext cx="7772400" cy="20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700"/>
              <a:buFont typeface="Calibri"/>
              <a:buNone/>
            </a:pPr>
            <a:r>
              <a:rPr lang="en-US" sz="7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rPr>
              <a:t>© 2026 Upscale AI – Proprietary and Confidential – Do Not Reproduce or Duplicate</a:t>
            </a:r>
            <a:endParaRPr sz="7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9" name="Google Shape;79;g38b39bbdc2a_0_30"/>
          <p:cNvSpPr/>
          <p:nvPr/>
        </p:nvSpPr>
        <p:spPr>
          <a:xfrm>
            <a:off x="7863840" y="4887468"/>
            <a:ext cx="1097400" cy="20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E19E"/>
              </a:buClr>
              <a:buSzPts val="800"/>
              <a:buFont typeface="Calibri"/>
              <a:buNone/>
            </a:pPr>
            <a:r>
              <a:rPr lang="en-US" sz="800" b="1" i="0" u="none" strike="noStrike" cap="none">
                <a:solidFill>
                  <a:srgbClr val="FFE19E"/>
                </a:solidFill>
                <a:latin typeface="Calibri"/>
                <a:ea typeface="Calibri"/>
                <a:cs typeface="Calibri"/>
                <a:sym typeface="Calibri"/>
              </a:rPr>
              <a:t>UP </a:t>
            </a:r>
            <a:r>
              <a:rPr lang="en-US" sz="900" b="1" i="0" u="none" strike="noStrike" cap="none">
                <a:solidFill>
                  <a:srgbClr val="FFE19E"/>
                </a:solidFill>
                <a:latin typeface="Calibri"/>
                <a:ea typeface="Calibri"/>
                <a:cs typeface="Calibri"/>
                <a:sym typeface="Calibri"/>
              </a:rPr>
              <a:t>upscale </a:t>
            </a:r>
            <a:r>
              <a:rPr lang="en-US" sz="900" b="0" i="0" u="none" strike="noStrike" cap="none">
                <a:solidFill>
                  <a:srgbClr val="FFE19E"/>
                </a:solidFill>
                <a:latin typeface="Calibri"/>
                <a:ea typeface="Calibri"/>
                <a:cs typeface="Calibri"/>
                <a:sym typeface="Calibri"/>
              </a:rPr>
              <a:t>ai</a:t>
            </a:r>
            <a:endParaRPr sz="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0" name="Google Shape;80;g38b39bbdc2a_0_30"/>
          <p:cNvSpPr txBox="1"/>
          <p:nvPr/>
        </p:nvSpPr>
        <p:spPr>
          <a:xfrm>
            <a:off x="411475" y="795525"/>
            <a:ext cx="8321100" cy="303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457200" marR="0" indent="-307975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250"/>
              <a:buFont typeface="Arial"/>
              <a:buChar char="●"/>
            </a:pPr>
            <a:r>
              <a:rPr>
                <a:solidFill>
                  <a:srgbClr val="333333"/>
                </a:solidFill>
              </a:rPr>
              <a:t>Cx two-pager · validation gates (~two weeks)</a:t>
            </a:r>
            <a:endParaRPr sz="125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/>
            <a:r>
              <a:rPr>
                <a:solidFill>
                  <a:srgbClr val="333333"/>
                </a:solidFill>
              </a:rPr>
              <a:t>done and validated · before tape-out</a:t>
            </a:r>
          </a:p>
          <a:p>
            <a:pPr/>
            <a:r>
              <a:rPr>
                <a:solidFill>
                  <a:srgbClr val="333333"/>
                </a:solidFill>
              </a:rPr>
              <a:t>AV · milestone decisions</a:t>
            </a:r>
          </a:p>
          <a:p>
            <a:pPr/>
            <a:r>
              <a:rPr>
                <a:solidFill>
                  <a:srgbClr val="333333"/>
                </a:solidFill>
              </a:rPr>
              <a:t>Friday · your edits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3d542e4bd64_0_0"/>
          <p:cNvSpPr/>
          <p:nvPr/>
        </p:nvSpPr>
        <p:spPr>
          <a:xfrm>
            <a:off x="411480" y="201168"/>
            <a:ext cx="8321100" cy="59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51830"/>
              </a:buClr>
              <a:buSzPts val="3000"/>
              <a:buFont typeface="Calibri"/>
              <a:buNone/>
            </a:pPr>
            <a:r>
              <a:rPr lang="en-US" sz="3000" b="0" i="0" u="none" strike="noStrike" cap="none">
                <a:solidFill>
                  <a:srgbClr val="051830"/>
                </a:solidFill>
                <a:latin typeface="Calibri"/>
                <a:ea typeface="Calibri"/>
                <a:cs typeface="Calibri"/>
                <a:sym typeface="Calibri"/>
              </a:rPr>
              <a:t>What I need from you</a:t>
            </a:r>
            <a:endParaRPr sz="3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7" name="Google Shape;87;g3d542e4bd64_0_0"/>
          <p:cNvSpPr/>
          <p:nvPr/>
        </p:nvSpPr>
        <p:spPr>
          <a:xfrm>
            <a:off x="0" y="4850892"/>
            <a:ext cx="9144000" cy="18300"/>
          </a:xfrm>
          <a:prstGeom prst="rect">
            <a:avLst/>
          </a:prstGeom>
          <a:solidFill>
            <a:srgbClr val="C8A85A"/>
          </a:solidFill>
          <a:ln w="12700" cap="flat" cmpd="sng">
            <a:solidFill>
              <a:srgbClr val="C8A85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8" name="Google Shape;88;g3d542e4bd64_0_0"/>
          <p:cNvSpPr/>
          <p:nvPr/>
        </p:nvSpPr>
        <p:spPr>
          <a:xfrm>
            <a:off x="0" y="4869180"/>
            <a:ext cx="9144000" cy="274200"/>
          </a:xfrm>
          <a:prstGeom prst="rect">
            <a:avLst/>
          </a:prstGeom>
          <a:solidFill>
            <a:srgbClr val="F4F6FA"/>
          </a:solidFill>
          <a:ln w="12700" cap="flat" cmpd="sng">
            <a:solidFill>
              <a:srgbClr val="F4F6F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9" name="Google Shape;89;g3d542e4bd64_0_0"/>
          <p:cNvSpPr/>
          <p:nvPr/>
        </p:nvSpPr>
        <p:spPr>
          <a:xfrm>
            <a:off x="274320" y="4887468"/>
            <a:ext cx="7772400" cy="20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700"/>
              <a:buFont typeface="Calibri"/>
              <a:buNone/>
            </a:pPr>
            <a:r>
              <a:rPr lang="en-US" sz="7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rPr>
              <a:t>© 2026 Upscale AI – Proprietary and Confidential – Do Not Reproduce or Duplicate</a:t>
            </a:r>
            <a:endParaRPr sz="7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0" name="Google Shape;90;g3d542e4bd64_0_0"/>
          <p:cNvSpPr/>
          <p:nvPr/>
        </p:nvSpPr>
        <p:spPr>
          <a:xfrm>
            <a:off x="7863840" y="4887468"/>
            <a:ext cx="1097400" cy="20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E19E"/>
              </a:buClr>
              <a:buSzPts val="800"/>
              <a:buFont typeface="Calibri"/>
              <a:buNone/>
            </a:pPr>
            <a:r>
              <a:rPr lang="en-US" sz="800" b="1" i="0" u="none" strike="noStrike" cap="none">
                <a:solidFill>
                  <a:srgbClr val="FFE19E"/>
                </a:solidFill>
                <a:latin typeface="Calibri"/>
                <a:ea typeface="Calibri"/>
                <a:cs typeface="Calibri"/>
                <a:sym typeface="Calibri"/>
              </a:rPr>
              <a:t>UP </a:t>
            </a:r>
            <a:r>
              <a:rPr lang="en-US" sz="900" b="1" i="0" u="none" strike="noStrike" cap="none">
                <a:solidFill>
                  <a:srgbClr val="FFE19E"/>
                </a:solidFill>
                <a:latin typeface="Calibri"/>
                <a:ea typeface="Calibri"/>
                <a:cs typeface="Calibri"/>
                <a:sym typeface="Calibri"/>
              </a:rPr>
              <a:t>upscale </a:t>
            </a:r>
            <a:r>
              <a:rPr lang="en-US" sz="900" b="0" i="0" u="none" strike="noStrike" cap="none">
                <a:solidFill>
                  <a:srgbClr val="FFE19E"/>
                </a:solidFill>
                <a:latin typeface="Calibri"/>
                <a:ea typeface="Calibri"/>
                <a:cs typeface="Calibri"/>
                <a:sym typeface="Calibri"/>
              </a:rPr>
              <a:t>ai</a:t>
            </a:r>
            <a:endParaRPr sz="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1" name="Google Shape;91;g3d542e4bd64_0_0"/>
          <p:cNvSpPr txBox="1"/>
          <p:nvPr/>
        </p:nvSpPr>
        <p:spPr>
          <a:xfrm>
            <a:off x="411475" y="795525"/>
            <a:ext cx="8622000" cy="281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457200" marR="0" indent="-307975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250"/>
              <a:buFont typeface="Arial"/>
              <a:buChar char="●"/>
            </a:pPr>
            <a:r>
              <a:rPr>
                <a:solidFill>
                  <a:srgbClr val="333333"/>
                </a:solidFill>
              </a:rPr>
              <a:t>Scope aligned?</a:t>
            </a:r>
            <a:endParaRPr sz="125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/>
            <a:r>
              <a:rPr>
                <a:solidFill>
                  <a:srgbClr val="333333"/>
                </a:solidFill>
              </a:rPr>
              <a:t>Program chair?</a:t>
            </a:r>
          </a:p>
          <a:p>
            <a:pPr/>
            <a:r>
              <a:rPr>
                <a:solidFill>
                  <a:srgbClr val="333333"/>
                </a:solidFill>
              </a:rPr>
              <a:t>Backup deck · OCP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D63CE4F5B33B9B47BA16A8D82636783D" ma:contentTypeVersion="15" ma:contentTypeDescription="Create a new document." ma:contentTypeScope="" ma:versionID="3f5d8ee684fd6382a1a7264cb2ced548">
  <xsd:schema xmlns:xsd="http://www.w3.org/2001/XMLSchema" xmlns:xs="http://www.w3.org/2001/XMLSchema" xmlns:p="http://schemas.microsoft.com/office/2006/metadata/properties" xmlns:ns2="fb6a68c4-ab8f-4ba3-a895-6ac835c17b7e" xmlns:ns3="02831a02-8e16-4ec9-bd65-59388d77e3b2" targetNamespace="http://schemas.microsoft.com/office/2006/metadata/properties" ma:root="true" ma:fieldsID="5a953b81592bcab817634265e9ab1dd5" ns2:_="" ns3:_="">
    <xsd:import namespace="fb6a68c4-ab8f-4ba3-a895-6ac835c17b7e"/>
    <xsd:import namespace="02831a02-8e16-4ec9-bd65-59388d77e3b2"/>
    <xsd:element name="properties">
      <xsd:complexType>
        <xsd:sequence>
          <xsd:element name="documentManagement">
            <xsd:complexType>
              <xsd:all>
                <xsd:element ref="ns2:MigrationSourceID" minOccurs="0"/>
                <xsd:element ref="ns3:MediaServiceMetadata" minOccurs="0"/>
                <xsd:element ref="ns3:MediaServiceFastMetadata" minOccurs="0"/>
                <xsd:element ref="ns3:MediaServiceSearchProperties" minOccurs="0"/>
                <xsd:element ref="ns3:MediaServiceDateTaken" minOccurs="0"/>
                <xsd:element ref="ns3:MediaServiceGenerationTime" minOccurs="0"/>
                <xsd:element ref="ns3:MediaServiceEventHashCode" minOccurs="0"/>
                <xsd:element ref="ns3:MediaLengthInSeconds" minOccurs="0"/>
                <xsd:element ref="ns3:MigrationWizId" minOccurs="0"/>
                <xsd:element ref="ns3:MigrationWizIdPermissions" minOccurs="0"/>
                <xsd:element ref="ns3:MigrationWizIdVersion" minOccurs="0"/>
                <xsd:element ref="ns3:lcf76f155ced4ddcb4097134ff3c332f" minOccurs="0"/>
                <xsd:element ref="ns2:TaxCatchAll" minOccurs="0"/>
                <xsd:element ref="ns3:MediaServiceOCR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fb6a68c4-ab8f-4ba3-a895-6ac835c17b7e" elementFormDefault="qualified">
    <xsd:import namespace="http://schemas.microsoft.com/office/2006/documentManagement/types"/>
    <xsd:import namespace="http://schemas.microsoft.com/office/infopath/2007/PartnerControls"/>
    <xsd:element name="MigrationSourceID" ma:index="8" nillable="true" ma:displayName="MigrationSourceID" ma:internalName="MigrationSourceID" ma:readOnly="true">
      <xsd:simpleType>
        <xsd:restriction base="dms:Text"/>
      </xsd:simpleType>
    </xsd:element>
    <xsd:element name="TaxCatchAll" ma:index="21" nillable="true" ma:displayName="Taxonomy Catch All Column" ma:hidden="true" ma:list="{39f00500-20d3-4015-8ed4-d465b76ab46e}" ma:internalName="TaxCatchAll" ma:showField="CatchAllData" ma:web="fb6a68c4-ab8f-4ba3-a895-6ac835c17b7e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02831a02-8e16-4ec9-bd65-59388d77e3b2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9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0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1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ateTaken" ma:index="12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4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15" nillable="true" ma:displayName="MediaLengthInSeconds" ma:hidden="true" ma:internalName="MediaLengthInSeconds" ma:readOnly="true">
      <xsd:simpleType>
        <xsd:restriction base="dms:Unknown"/>
      </xsd:simpleType>
    </xsd:element>
    <xsd:element name="MigrationWizId" ma:index="16" nillable="true" ma:displayName="MigrationWizId" ma:internalName="MigrationWizId">
      <xsd:simpleType>
        <xsd:restriction base="dms:Text"/>
      </xsd:simpleType>
    </xsd:element>
    <xsd:element name="MigrationWizIdPermissions" ma:index="17" nillable="true" ma:displayName="MigrationWizIdPermissions" ma:internalName="MigrationWizIdPermissions">
      <xsd:simpleType>
        <xsd:restriction base="dms:Text"/>
      </xsd:simpleType>
    </xsd:element>
    <xsd:element name="MigrationWizIdVersion" ma:index="18" nillable="true" ma:displayName="MigrationWizIdVersion" ma:internalName="MigrationWizIdVersion">
      <xsd:simpleType>
        <xsd:restriction base="dms:Text"/>
      </xsd:simpleType>
    </xsd:element>
    <xsd:element name="lcf76f155ced4ddcb4097134ff3c332f" ma:index="20" nillable="true" ma:taxonomy="true" ma:internalName="lcf76f155ced4ddcb4097134ff3c332f" ma:taxonomyFieldName="MediaServiceImageTags" ma:displayName="Image Tags" ma:readOnly="false" ma:fieldId="{5cf76f15-5ced-4ddc-b409-7134ff3c332f}" ma:taxonomyMulti="true" ma:sspId="5568d06a-9151-4f9f-a28d-684c52c13878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22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MigrationSourceID xmlns="fb6a68c4-ab8f-4ba3-a895-6ac835c17b7e">1kv6CIXj2YO96Z9sh70NFdV8FGzdxTmcr</MigrationSourceID>
    <MigrationWizIdPermissions xmlns="02831a02-8e16-4ec9-bd65-59388d77e3b2" xsi:nil="true"/>
    <MigrationWizIdVersion xmlns="02831a02-8e16-4ec9-bd65-59388d77e3b2" xsi:nil="true"/>
    <MigrationWizId xmlns="02831a02-8e16-4ec9-bd65-59388d77e3b2" xsi:nil="true"/>
    <lcf76f155ced4ddcb4097134ff3c332f xmlns="02831a02-8e16-4ec9-bd65-59388d77e3b2">
      <Terms xmlns="http://schemas.microsoft.com/office/infopath/2007/PartnerControls"/>
    </lcf76f155ced4ddcb4097134ff3c332f>
    <TaxCatchAll xmlns="fb6a68c4-ab8f-4ba3-a895-6ac835c17b7e" xsi:nil="true"/>
  </documentManagement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E7F9CACF-705F-4DAF-B572-0A458E8DBAC7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fb6a68c4-ab8f-4ba3-a895-6ac835c17b7e"/>
    <ds:schemaRef ds:uri="02831a02-8e16-4ec9-bd65-59388d77e3b2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E3908B21-CBA9-4FB3-99DD-253C12A6A26A}">
  <ds:schemaRefs>
    <ds:schemaRef ds:uri="http://schemas.microsoft.com/office/2006/metadata/properties"/>
    <ds:schemaRef ds:uri="http://schemas.microsoft.com/office/infopath/2007/PartnerControls"/>
    <ds:schemaRef ds:uri="fb6a68c4-ab8f-4ba3-a895-6ac835c17b7e"/>
    <ds:schemaRef ds:uri="02831a02-8e16-4ec9-bd65-59388d77e3b2"/>
  </ds:schemaRefs>
</ds:datastoreItem>
</file>

<file path=customXml/itemProps3.xml><?xml version="1.0" encoding="utf-8"?>
<ds:datastoreItem xmlns:ds="http://schemas.openxmlformats.org/officeDocument/2006/customXml" ds:itemID="{F309101F-597A-4913-BCA7-C230F0E946F0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Application>Microsoft Office PowerPoint</Application>
  <PresentationFormat>On-screen Show (16:9)</PresentationFormat>
  <Slides>32</Slides>
  <Notes>32</Notes>
  <HiddenSlides>0</HiddenSlide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32</vt:i4>
      </vt:variant>
    </vt:vector>
  </HeadingPairs>
  <TitlesOfParts>
    <vt:vector size="33" baseType="lpstr"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Girish Kalele</dc:creator>
  <cp:revision>1</cp:revision>
  <dcterms:created xsi:type="dcterms:W3CDTF">2026-03-27T17:55:03Z</dcterms:created>
  <dcterms:modified xsi:type="dcterms:W3CDTF">2026-06-04T18:38:57Z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0x010100D63CE4F5B33B9B47BA16A8D82636783D</vt:lpwstr>
  </property>
</Properties>
</file>