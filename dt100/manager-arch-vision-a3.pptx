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37"/>
  </p:notesMasterIdLst>
  <p:sldIdLst>
    <p:sldId id="256" r:id="rId5"/>
    <p:sldId id="258" r:id="rId7"/>
    <p:sldId id="259" r:id="rId8"/>
    <p:sldId id="260" r:id="rId9"/>
    <p:sldId id="261" r:id="rId10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8" roundtripDataSignature="AMtx7mh9pMNojvmZd7sLzoI35cKCZ+b9r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37" Type="http://schemas.openxmlformats.org/officeDocument/2006/relationships/notesMaster" Target="notesMasters/notesMaster1.xml"/><Relationship Id="rId38" Type="http://customschemas.google.com/relationships/presentationmetadata" Target="metadata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Arch vision review. Upscale confidential. Main deck is four slides plus B6 backup.</a:t>
            </a:r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8b39bbdc2a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" name="Google Shape;50;g38b39bbdc2a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Sponsor is you — your name is not on this deck.</a:t>
            </a:r>
          </a:p>
          <a:p/>
          <a:p>
            <a:r>
              <a:t>I am Diwakar. I am here to align on two things: your done and validated bar before tape-out (product, mgmt, datapath AV, SDK/SAI), and my scope: Dynamic Switch-Buffer Management (DBM — same ESUN-world idea as DLB, but at Switch-Buffer / CSB, not fabric load balancing). Buffer carving at CSB; queues, PFC, WRED/ECN/Pause via SDK/SAI — Rupa owns datapath architecture.</a:t>
            </a:r>
          </a:p>
          <a:p/>
          <a:p>
            <a:r>
              <a:t>If slide one or two is off, tell me now; we fix that before B6, not after.</a:t>
            </a:r>
          </a:p>
          <a:p/>
          <a:p>
            <a:r>
              <a:t>Flow: slides 1–2 → B6 (his pipeline slide — you point carve, don’t reframe Rupa’s map) → slides 3–4.</a:t>
            </a:r>
          </a:p>
          <a:p/>
          <a:p>
            <a:r>
              <a:t>Point at slide: Title is DBM; subtitle is his ink — buffer carving at CSB (at = in that block, not owning full datapath).</a:t>
            </a:r>
          </a:p>
          <a:p/>
          <a:p>
            <a:r>
              <a:t>DBM (spoken once): Pairs with DLB in ESUN scale-up vocabulary — equivalent branding, different layer (buffers/CSB, not ECMP/fabric).</a:t>
            </a:r>
          </a:p>
          <a:p/>
          <a:p>
            <a:r>
              <a:t>His words: no one has looked at CSB and buffer carving. You have confidence I can deliver by understanding datapath; Rupa owns datapath architecture. Her pipeline slide in B6 is a seed for her work — you walk it; you don’t own pkt-format / L2-L3 path framing.</a:t>
            </a:r>
          </a:p>
          <a:p/>
          <a:p>
            <a:r>
              <a:t>Story A on the slide: done and validated · product · mgmt · AV · SDK/SAI · C-model → emulation → silicon. I contribute; I do not own the full bar.</a:t>
            </a:r>
          </a:p>
          <a:p/>
          <a:p>
            <a:r>
              <a:t>Today: align on scope, not full HW sign-off or fifty-page packs.</a:t>
            </a:r>
          </a:p>
          <a:p/>
          <a:p>
            <a:r>
              <a:t>B6 is the how — whole pipe, owners, my wedge on QoSMAP and Queue. I will not read every row unless you want detail.</a:t>
            </a:r>
          </a:p>
        </p:txBody>
      </p:sp>
      <p:sp>
        <p:nvSpPr>
          <p:cNvPr id="51" name="Google Shape;51;g38b39bbdc2a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8b39bbdc2a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8b39bbdc2a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Program (his language): SW done and validated before tape-out — product, mgmt plane, datapath AV, SDK/SAI, milestones on the path to silicon.</a:t>
            </a:r>
          </a:p>
          <a:p/>
          <a:p>
            <a:r>
              <a:t>My lane: QoS RM — QoSMAP, Queue, buffer carving. Not L2/L3, ECMP, or SDK programs.</a:t>
            </a:r>
          </a:p>
          <a:p/>
          <a:p>
            <a:r>
              <a:t>Peers: Shafi on L2-FBD / ACL, Tippanna on ECMP / AV, SDK leads, Rupa on datapath / ESUN — names on B6.</a:t>
            </a:r>
          </a:p>
          <a:p/>
          <a:p>
            <a:r>
              <a:t>If this matches your expectation, we open B6 — his pipeline slide; you anchor CSB, QoSMAP, Queue, carve.</a:t>
            </a:r>
          </a:p>
        </p:txBody>
      </p:sp>
      <p:sp>
        <p:nvSpPr>
          <p:cNvPr id="62" name="Google Shape;62;g38b39bbdc2a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8b39bbdc2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g38b39bbdc2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Outcome: You get a 2-pager machine — Cx in ~two weeks: decisions, validation gates, open issues — not a fifty-page arch dump.</a:t>
            </a:r>
          </a:p>
          <a:p/>
          <a:p>
            <a:r>
              <a:t>For him: done and validated clarity at milestones; AV at gates; thin read he can use upward (Executive review on cover is intentional).</a:t>
            </a:r>
          </a:p>
          <a:p/>
          <a:p>
            <a:r>
              <a:t>~two weeks: First Cx drop — gates v0 + CSB / carve HWv1 scope inside the 2-pager, not as a separate QoS-only promise.</a:t>
            </a:r>
          </a:p>
          <a:p/>
          <a:p>
            <a:r>
              <a:t>This week: 1–2, B6, Friday on his edits.</a:t>
            </a:r>
          </a:p>
          <a:p/>
          <a:p>
            <a:r>
              <a:t>Last two slides — outcomes and what I need from you as Sponsor.</a:t>
            </a:r>
          </a:p>
        </p:txBody>
      </p:sp>
      <p:sp>
        <p:nvSpPr>
          <p:cNvPr id="73" name="Google Shape;73;g38b39bbdc2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42e4bd6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3" name="Google Shape;83;g3d542e4bd64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Are slides 1–2 right? If not, we fix before treating B6 as agreed.</a:t>
            </a:r>
          </a:p>
          <a:p/>
          <a:p>
            <a:r>
              <a:t>Confirm who owns which slice — B6 owner slide has names.</a:t>
            </a:r>
          </a:p>
          <a:p/>
          <a:p>
            <a:r>
              <a:t>Program chair (spoken, optional): Are you comfortable with me driving the done and validated program with you as Sponsor, or do you want to chair that yourself?</a:t>
            </a:r>
          </a:p>
          <a:p/>
          <a:p>
            <a:r>
              <a:t>OCP / vendors: I coordinate with datapath; you own company position externally.</a:t>
            </a:r>
          </a:p>
          <a:p/>
          <a:p>
            <a:r>
              <a:t>Format: PDF async, live, or Friday follow-up — your call.</a:t>
            </a:r>
          </a:p>
          <a:p/>
          <a:p>
            <a:r>
              <a:t>Escalation: Step in if architects stall on validation gates.</a:t>
            </a:r>
          </a:p>
        </p:txBody>
      </p:sp>
      <p:sp>
        <p:nvSpPr>
          <p:cNvPr id="84" name="Google Shape;84;g3d542e4bd64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830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 </a:t>
            </a: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22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457200" y="1828800"/>
            <a:ext cx="3200400" cy="36576"/>
          </a:xfrm>
          <a:prstGeom prst="rect">
            <a:avLst/>
          </a:prstGeom>
          <a:solidFill>
            <a:srgbClr val="FFE19E"/>
          </a:solidFill>
          <a:ln w="127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457200" y="1965960"/>
            <a:ext cx="438912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>Architecture Vision</a:t>
            </a:r>
            <a:endParaRPr sz="1950" b="0" i="1" u="none" strike="noStrike" cap="none">
              <a:solidFill>
                <a:srgbClr val="FEDB8D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2600" b="0" i="1" u="none" strike="noStrike" cap="none">
              <a:solidFill>
                <a:srgbClr val="FFE1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457200" y="338328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1100"/>
              <a:buFont typeface="Calibri"/>
              <a:buNone/>
            </a:pPr>
            <a:r>
              <a:rPr lang="en-US" sz="1100" b="0" i="1" u="none" strike="noStrike" cap="none">
                <a:solidFill>
                  <a:srgbClr val="AABBCC"/>
                </a:solidFill>
                <a:latin typeface="Calibri"/>
                <a:ea typeface="Calibri"/>
                <a:cs typeface="Calibri"/>
                <a:sym typeface="Calibri"/>
              </a:rPr>
              <a:t>End-to-end datapath hardware–software validation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457200" y="37490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78899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For Executive Review · Confidential — Upscale AI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572000" y="0"/>
            <a:ext cx="4572000" cy="4869180"/>
          </a:xfrm>
          <a:prstGeom prst="rect">
            <a:avLst/>
          </a:prstGeom>
          <a:solidFill>
            <a:srgbClr val="071E35"/>
          </a:solidFill>
          <a:ln w="12700" cap="flat" cmpd="sng">
            <a:solidFill>
              <a:srgbClr val="071E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4846320" y="274320"/>
            <a:ext cx="27432" cy="13716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394960" y="274320"/>
            <a:ext cx="27432" cy="164592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5943600" y="274320"/>
            <a:ext cx="27432" cy="192024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6492240" y="274320"/>
            <a:ext cx="27432" cy="219456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7040880" y="274320"/>
            <a:ext cx="27432" cy="246888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7589520" y="274320"/>
            <a:ext cx="27432" cy="27432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4846320" y="457200"/>
            <a:ext cx="320040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4846320" y="1188720"/>
            <a:ext cx="283464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4846320" y="1920240"/>
            <a:ext cx="246888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4846320" y="2651760"/>
            <a:ext cx="210312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5760720" y="1463040"/>
            <a:ext cx="2286000" cy="1828800"/>
          </a:xfrm>
          <a:prstGeom prst="roundRect">
            <a:avLst>
              <a:gd name="adj" fmla="val 6000"/>
            </a:avLst>
          </a:prstGeom>
          <a:solidFill>
            <a:srgbClr val="0A2744"/>
          </a:solidFill>
          <a:ln w="254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5760720" y="1737360"/>
            <a:ext cx="228600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sz="1900">
                <a:solidFill>
                  <a:srgbClr val="FFE19E"/>
                </a:solidFill>
                <a:latin typeface="Calibri"/>
              </a:rPr>
              <a:t>Dynamic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algn="ctr">
              <a:spcAft>
                <a:spcPts val="200"/>
              </a:spcAft>
            </a:pPr>
            <a:r>
              <a:rPr sz="1900">
                <a:solidFill>
                  <a:srgbClr val="FFE19E"/>
                </a:solidFill>
                <a:latin typeface="Calibri"/>
              </a:rPr>
              <a:t>Switch-Buffer</a:t>
            </a:r>
          </a:p>
          <a:p>
            <a:pPr algn="ctr">
              <a:spcAft>
                <a:spcPts val="200"/>
              </a:spcAft>
            </a:pPr>
            <a:r>
              <a:rPr sz="1900">
                <a:solidFill>
                  <a:srgbClr val="FFE19E"/>
                </a:solidFill>
                <a:latin typeface="Calibri"/>
              </a:rPr>
              <a:t>Management</a:t>
            </a:r>
          </a:p>
        </p:txBody>
      </p:sp>
      <p:sp>
        <p:nvSpPr>
          <p:cNvPr id="34" name="Google Shape;34;p1"/>
          <p:cNvSpPr/>
          <p:nvPr/>
        </p:nvSpPr>
        <p:spPr>
          <a:xfrm>
            <a:off x="0" y="4850892"/>
            <a:ext cx="9144000" cy="18288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81F3A"/>
          </a:solidFill>
          <a:ln w="12700" cap="flat" cmpd="sng">
            <a:solidFill>
              <a:srgbClr val="081F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"/>
          <p:cNvSpPr/>
          <p:nvPr/>
        </p:nvSpPr>
        <p:spPr>
          <a:xfrm>
            <a:off x="274320" y="4887468"/>
            <a:ext cx="7772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88AA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6688AA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1"/>
          <p:cNvSpPr/>
          <p:nvPr/>
        </p:nvSpPr>
        <p:spPr>
          <a:xfrm>
            <a:off x="7863840" y="488746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8b39bbdc2a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1900">
                <a:solidFill>
                  <a:srgbClr val="051830"/>
                </a:solidFill>
                <a:latin typeface="Calibri"/>
              </a:rPr>
              <a:t>Dynamic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300"/>
              </a:spcAft>
            </a:pPr>
            <a:r>
              <a:rPr sz="1900">
                <a:solidFill>
                  <a:srgbClr val="051830"/>
                </a:solidFill>
                <a:latin typeface="Calibri"/>
              </a:rPr>
              <a:t>Switch-Buffer</a:t>
            </a:r>
          </a:p>
          <a:p>
            <a:pPr>
              <a:spcAft>
                <a:spcPts val="300"/>
              </a:spcAft>
            </a:pPr>
            <a:r>
              <a:rPr sz="1900">
                <a:solidFill>
                  <a:srgbClr val="051830"/>
                </a:solidFill>
                <a:latin typeface="Calibri"/>
              </a:rPr>
              <a:t>Management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Buffer carving at CSB</a:t>
            </a:r>
          </a:p>
        </p:txBody>
      </p:sp>
      <p:sp>
        <p:nvSpPr>
          <p:cNvPr id="54" name="Google Shape;54;g38b39bbdc2a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g38b39bbdc2a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g38b39bbdc2a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g38b39bbdc2a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g38b39bbdc2a_0_1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9" name="Picture 58" descr="slide01-sc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391" y="1920240"/>
            <a:ext cx="3657218" cy="397763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8b39bbdc2a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SW done and validated before tape-out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g38b39bbdc2a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g38b39bbdc2a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g38b39bbdc2a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g38b39bbdc2a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g38b39bbdc2a_0_2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Picture 69" descr="slide02-valida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7301" y="1920240"/>
            <a:ext cx="6629398" cy="397763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8b39bbdc2a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What you get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g38b39bbdc2a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g38b39bbdc2a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g38b39bbdc2a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g38b39bbdc2a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g38b39bbdc2a_0_3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1" name="Picture 80" descr="slide03-outcom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1224" y="1920240"/>
            <a:ext cx="3281552" cy="397763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d542e4bd64_0_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What I need from you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g3d542e4bd64_0_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g3d542e4bd64_0_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g3d542e4bd64_0_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g3d542e4bd64_0_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g3d542e4bd64_0_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Picture 91" descr="slide04-spons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1224" y="1920240"/>
            <a:ext cx="3281552" cy="397763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63CE4F5B33B9B47BA16A8D82636783D" ma:contentTypeVersion="15" ma:contentTypeDescription="Create a new document." ma:contentTypeScope="" ma:versionID="3f5d8ee684fd6382a1a7264cb2ced548">
  <xsd:schema xmlns:xsd="http://www.w3.org/2001/XMLSchema" xmlns:xs="http://www.w3.org/2001/XMLSchema" xmlns:p="http://schemas.microsoft.com/office/2006/metadata/properties" xmlns:ns2="fb6a68c4-ab8f-4ba3-a895-6ac835c17b7e" xmlns:ns3="02831a02-8e16-4ec9-bd65-59388d77e3b2" targetNamespace="http://schemas.microsoft.com/office/2006/metadata/properties" ma:root="true" ma:fieldsID="5a953b81592bcab817634265e9ab1dd5" ns2:_="" ns3:_="">
    <xsd:import namespace="fb6a68c4-ab8f-4ba3-a895-6ac835c17b7e"/>
    <xsd:import namespace="02831a02-8e16-4ec9-bd65-59388d77e3b2"/>
    <xsd:element name="properties">
      <xsd:complexType>
        <xsd:sequence>
          <xsd:element name="documentManagement">
            <xsd:complexType>
              <xsd:all>
                <xsd:element ref="ns2:MigrationSourceID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igrationWizId" minOccurs="0"/>
                <xsd:element ref="ns3:MigrationWizIdPermissions" minOccurs="0"/>
                <xsd:element ref="ns3:MigrationWizIdVersion" minOccurs="0"/>
                <xsd:element ref="ns3:lcf76f155ced4ddcb4097134ff3c332f" minOccurs="0"/>
                <xsd:element ref="ns2:TaxCatchAll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6a68c4-ab8f-4ba3-a895-6ac835c17b7e" elementFormDefault="qualified">
    <xsd:import namespace="http://schemas.microsoft.com/office/2006/documentManagement/types"/>
    <xsd:import namespace="http://schemas.microsoft.com/office/infopath/2007/PartnerControls"/>
    <xsd:element name="MigrationSourceID" ma:index="8" nillable="true" ma:displayName="MigrationSourceID" ma:internalName="MigrationSourceID" ma:readOnly="true">
      <xsd:simpleType>
        <xsd:restriction base="dms:Text"/>
      </xsd:simpleType>
    </xsd:element>
    <xsd:element name="TaxCatchAll" ma:index="21" nillable="true" ma:displayName="Taxonomy Catch All Column" ma:hidden="true" ma:list="{39f00500-20d3-4015-8ed4-d465b76ab46e}" ma:internalName="TaxCatchAll" ma:showField="CatchAllData" ma:web="fb6a68c4-ab8f-4ba3-a895-6ac835c17b7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831a02-8e16-4ec9-bd65-59388d77e3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igrationWizId" ma:index="16" nillable="true" ma:displayName="MigrationWizId" ma:internalName="MigrationWizId">
      <xsd:simpleType>
        <xsd:restriction base="dms:Text"/>
      </xsd:simpleType>
    </xsd:element>
    <xsd:element name="MigrationWizIdPermissions" ma:index="17" nillable="true" ma:displayName="MigrationWizIdPermissions" ma:internalName="MigrationWizIdPermissions">
      <xsd:simpleType>
        <xsd:restriction base="dms:Text"/>
      </xsd:simpleType>
    </xsd:element>
    <xsd:element name="MigrationWizIdVersion" ma:index="18" nillable="true" ma:displayName="MigrationWizIdVersion" ma:internalName="MigrationWizIdVersion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5568d06a-9151-4f9f-a28d-684c52c1387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igrationSourceID xmlns="fb6a68c4-ab8f-4ba3-a895-6ac835c17b7e">1kv6CIXj2YO96Z9sh70NFdV8FGzdxTmcr</MigrationSourceID>
    <MigrationWizIdPermissions xmlns="02831a02-8e16-4ec9-bd65-59388d77e3b2" xsi:nil="true"/>
    <MigrationWizIdVersion xmlns="02831a02-8e16-4ec9-bd65-59388d77e3b2" xsi:nil="true"/>
    <MigrationWizId xmlns="02831a02-8e16-4ec9-bd65-59388d77e3b2" xsi:nil="true"/>
    <lcf76f155ced4ddcb4097134ff3c332f xmlns="02831a02-8e16-4ec9-bd65-59388d77e3b2">
      <Terms xmlns="http://schemas.microsoft.com/office/infopath/2007/PartnerControls"/>
    </lcf76f155ced4ddcb4097134ff3c332f>
    <TaxCatchAll xmlns="fb6a68c4-ab8f-4ba3-a895-6ac835c17b7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7F9CACF-705F-4DAF-B572-0A458E8DBAC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6a68c4-ab8f-4ba3-a895-6ac835c17b7e"/>
    <ds:schemaRef ds:uri="02831a02-8e16-4ec9-bd65-59388d77e3b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908B21-CBA9-4FB3-99DD-253C12A6A26A}">
  <ds:schemaRefs>
    <ds:schemaRef ds:uri="http://schemas.microsoft.com/office/2006/metadata/properties"/>
    <ds:schemaRef ds:uri="http://schemas.microsoft.com/office/infopath/2007/PartnerControls"/>
    <ds:schemaRef ds:uri="fb6a68c4-ab8f-4ba3-a895-6ac835c17b7e"/>
    <ds:schemaRef ds:uri="02831a02-8e16-4ec9-bd65-59388d77e3b2"/>
  </ds:schemaRefs>
</ds:datastoreItem>
</file>

<file path=customXml/itemProps3.xml><?xml version="1.0" encoding="utf-8"?>
<ds:datastoreItem xmlns:ds="http://schemas.openxmlformats.org/officeDocument/2006/customXml" ds:itemID="{F309101F-597A-4913-BCA7-C230F0E946F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32</Slides>
  <Notes>32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Girish Kalele</dc:creator>
  <cp:revision>1</cp:revision>
  <dcterms:created xsi:type="dcterms:W3CDTF">2026-03-27T17:55:03Z</dcterms:created>
  <dcterms:modified xsi:type="dcterms:W3CDTF">2026-06-04T18:38:57Z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0x010100D63CE4F5B33B9B47BA16A8D82636783D</vt:lpwstr>
  </property>
</Properties>
</file>