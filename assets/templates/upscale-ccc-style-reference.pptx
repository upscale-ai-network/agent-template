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37"/>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h9pMNojvmZd7sLzoI35cKCZ+b9r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 name="Google Shape;4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 name="Google Shape;4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g38b39bbdc2a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 name="Google Shape;50;g38b39bbdc2a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 name="Google Shape;51;g38b39bbdc2a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8b39bbdc2a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 name="Google Shape;61;g38b39bbdc2a_0_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 name="Google Shape;62;g38b39bbdc2a_0_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8b39bbdc2a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g38b39bbdc2a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 name="Google Shape;73;g38b39bbdc2a_0_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d542e4bd64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 name="Google Shape;83;g3d542e4bd64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 name="Google Shape;84;g3d542e4bd64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d542e4bd64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g3d542e4bd64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g3d542e4bd64_0_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d542e4bd64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g3d542e4bd64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g3d542e4bd64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d542e4bd64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3d542e4bd64_0_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3d542e4bd64_0_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8b39bbdc2a_0_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g38b39bbdc2a_0_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g38b39bbdc2a_0_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8b39bbdc2a_0_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g38b39bbdc2a_0_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g38b39bbdc2a_0_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8b39bbdc2a_0_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g38b39bbdc2a_0_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g38b39bbdc2a_0_6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8b39bbdc2a_0_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8b39bbdc2a_0_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g38b39bbdc2a_0_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8b39bbdc2a_0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38b39bbdc2a_0_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g38b39bbdc2a_0_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8b39bbdc2a_0_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g38b39bbdc2a_0_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g38b39bbdc2a_0_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de2394d888_0_3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3de2394d888_0_3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4" name="Google Shape;194;g3de2394d888_0_3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de2394d888_0_3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g3de2394d888_0_3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g3de2394d888_0_3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de2394d888_0_3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g3de2394d888_0_3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g3de2394d888_0_3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8b39bbdc2a_0_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8b39bbdc2a_0_1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7" name="Google Shape;227;g38b39bbdc2a_0_1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e08d834bd2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g3e08d834bd2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8" name="Google Shape;238;g3e08d834bd2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8b39bbdc2a_0_1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g38b39bbdc2a_0_1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g38b39bbdc2a_0_1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de2394d888_0_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 name="Google Shape;259;g3de2394d888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g3de2394d888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de2394d888_0_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g3de2394d888_0_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g3de2394d888_0_9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de2394d888_0_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g3de2394d888_0_10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g3de2394d888_0_10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de2394d888_0_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g3de2394d888_0_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3" name="Google Shape;293;g3de2394d888_0_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de2394d888_0_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g3de2394d888_0_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g3de2394d888_0_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d57177b310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g3d57177b310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5" name="Google Shape;315;g3d57177b310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d57177b310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5" name="Google Shape;325;g3d57177b310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6" name="Google Shape;326;g3d57177b310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d57177b310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 name="Google Shape;336;g3d57177b310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7" name="Google Shape;337;g3d57177b310_0_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d57177b310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7" name="Google Shape;347;g3d57177b310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8" name="Google Shape;348;g3d57177b310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9" name="Google Shape;359;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0" name="Google Shape;370;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hyperlink" Target="https://bugatti-asic.atlassian.net/browse/SKYSIM-213" TargetMode="External"/><Relationship Id="rId13" Type="http://schemas.openxmlformats.org/officeDocument/2006/relationships/hyperlink" Target="https://bugatti-asic.atlassian.net/browse/SKYSIM-218" TargetMode="External"/><Relationship Id="rId3" Type="http://schemas.openxmlformats.org/officeDocument/2006/relationships/hyperlink" Target="https://bugatti-asic.atlassian.net/browse/SKYSIM-208" TargetMode="External"/><Relationship Id="rId7" Type="http://schemas.openxmlformats.org/officeDocument/2006/relationships/hyperlink" Target="https://bugatti-asic.atlassian.net/browse/SKYSIM-212" TargetMode="External"/><Relationship Id="rId12" Type="http://schemas.openxmlformats.org/officeDocument/2006/relationships/hyperlink" Target="https://bugatti-asic.atlassian.net/browse/SKYSIM-217"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hyperlink" Target="https://bugatti-asic.atlassian.net/browse/SKYSIM-211" TargetMode="External"/><Relationship Id="rId11" Type="http://schemas.openxmlformats.org/officeDocument/2006/relationships/hyperlink" Target="https://bugatti-asic.atlassian.net/browse/SKYSIM-216" TargetMode="External"/><Relationship Id="rId5" Type="http://schemas.openxmlformats.org/officeDocument/2006/relationships/hyperlink" Target="https://bugatti-asic.atlassian.net/browse/SKYSIM-210" TargetMode="External"/><Relationship Id="rId10" Type="http://schemas.openxmlformats.org/officeDocument/2006/relationships/hyperlink" Target="https://bugatti-asic.atlassian.net/browse/SKYSIM-215" TargetMode="External"/><Relationship Id="rId4" Type="http://schemas.openxmlformats.org/officeDocument/2006/relationships/hyperlink" Target="https://bugatti-asic.atlassian.net/browse/SKYSIM-209" TargetMode="External"/><Relationship Id="rId9" Type="http://schemas.openxmlformats.org/officeDocument/2006/relationships/hyperlink" Target="https://bugatti-asic.atlassian.net/browse/SKYSIM-214" TargetMode="External"/></Relationships>
</file>

<file path=ppt/slides/_rels/slide28.xml.rels><?xml version="1.0" encoding="UTF-8" standalone="yes"?>
<Relationships xmlns="http://schemas.openxmlformats.org/package/2006/relationships"><Relationship Id="rId8" Type="http://schemas.openxmlformats.org/officeDocument/2006/relationships/hyperlink" Target="https://bugatti-asic.atlassian.net/browse/SKYSIM-175" TargetMode="External"/><Relationship Id="rId13" Type="http://schemas.openxmlformats.org/officeDocument/2006/relationships/hyperlink" Target="https://bugatti-asic.atlassian.net/browse/SKYSIM-223" TargetMode="External"/><Relationship Id="rId3" Type="http://schemas.openxmlformats.org/officeDocument/2006/relationships/hyperlink" Target="https://bugatti-asic.atlassian.net/browse/SKYSIM-219" TargetMode="External"/><Relationship Id="rId7" Type="http://schemas.openxmlformats.org/officeDocument/2006/relationships/hyperlink" Target="https://bugatti-asic.atlassian.net/browse/SKYSIM-174" TargetMode="External"/><Relationship Id="rId12" Type="http://schemas.openxmlformats.org/officeDocument/2006/relationships/hyperlink" Target="https://bugatti-asic.atlassian.net/browse/SKYSIM-180"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hyperlink" Target="https://bugatti-asic.atlassian.net/browse/SKYSIM-222" TargetMode="External"/><Relationship Id="rId11" Type="http://schemas.openxmlformats.org/officeDocument/2006/relationships/hyperlink" Target="https://bugatti-asic.atlassian.net/browse/SKYSIM-179" TargetMode="External"/><Relationship Id="rId5" Type="http://schemas.openxmlformats.org/officeDocument/2006/relationships/hyperlink" Target="https://bugatti-asic.atlassian.net/browse/SKYSIM-221" TargetMode="External"/><Relationship Id="rId10" Type="http://schemas.openxmlformats.org/officeDocument/2006/relationships/hyperlink" Target="https://bugatti-asic.atlassian.net/browse/SKYSIM-177" TargetMode="External"/><Relationship Id="rId4" Type="http://schemas.openxmlformats.org/officeDocument/2006/relationships/hyperlink" Target="https://bugatti-asic.atlassian.net/browse/SKYSIM-220" TargetMode="External"/><Relationship Id="rId9" Type="http://schemas.openxmlformats.org/officeDocument/2006/relationships/hyperlink" Target="https://bugatti-asic.atlassian.net/browse/SKYSIM-176"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bugatti-asic.atlassian.net/browse/SKYSIM-229" TargetMode="External"/><Relationship Id="rId13" Type="http://schemas.openxmlformats.org/officeDocument/2006/relationships/hyperlink" Target="https://bugatti-asic.atlassian.net/browse/SKYSIM-234" TargetMode="External"/><Relationship Id="rId3" Type="http://schemas.openxmlformats.org/officeDocument/2006/relationships/hyperlink" Target="https://bugatti-asic.atlassian.net/browse/SKYSIM-224" TargetMode="External"/><Relationship Id="rId7" Type="http://schemas.openxmlformats.org/officeDocument/2006/relationships/hyperlink" Target="https://bugatti-asic.atlassian.net/browse/SKYSIM-228" TargetMode="External"/><Relationship Id="rId12" Type="http://schemas.openxmlformats.org/officeDocument/2006/relationships/hyperlink" Target="https://bugatti-asic.atlassian.net/browse/SKYSIM-233"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hyperlink" Target="https://bugatti-asic.atlassian.net/browse/SKYSIM-227" TargetMode="External"/><Relationship Id="rId11" Type="http://schemas.openxmlformats.org/officeDocument/2006/relationships/hyperlink" Target="https://bugatti-asic.atlassian.net/browse/SKYSIM-232" TargetMode="External"/><Relationship Id="rId5" Type="http://schemas.openxmlformats.org/officeDocument/2006/relationships/hyperlink" Target="https://bugatti-asic.atlassian.net/browse/SKYSIM-226" TargetMode="External"/><Relationship Id="rId10" Type="http://schemas.openxmlformats.org/officeDocument/2006/relationships/hyperlink" Target="https://bugatti-asic.atlassian.net/browse/SKYSIM-231" TargetMode="External"/><Relationship Id="rId4" Type="http://schemas.openxmlformats.org/officeDocument/2006/relationships/hyperlink" Target="https://bugatti-asic.atlassian.net/browse/SKYSIM-225" TargetMode="External"/><Relationship Id="rId9" Type="http://schemas.openxmlformats.org/officeDocument/2006/relationships/hyperlink" Target="https://bugatti-asic.atlassian.net/browse/SKYSIM-230" TargetMode="External"/></Relationships>
</file>

<file path=ppt/slides/_rels/slide30.xml.rels><?xml version="1.0" encoding="UTF-8" standalone="yes"?>
<Relationships xmlns="http://schemas.openxmlformats.org/package/2006/relationships"><Relationship Id="rId8" Type="http://schemas.openxmlformats.org/officeDocument/2006/relationships/hyperlink" Target="https://bugatti-asic.atlassian.net/browse/SKYSIM-240" TargetMode="External"/><Relationship Id="rId3" Type="http://schemas.openxmlformats.org/officeDocument/2006/relationships/hyperlink" Target="https://bugatti-asic.atlassian.net/browse/SKYSIM-235" TargetMode="External"/><Relationship Id="rId7" Type="http://schemas.openxmlformats.org/officeDocument/2006/relationships/hyperlink" Target="https://bugatti-asic.atlassian.net/browse/SKYSIM-239"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hyperlink" Target="https://bugatti-asic.atlassian.net/browse/SKYSIM-238" TargetMode="External"/><Relationship Id="rId11" Type="http://schemas.openxmlformats.org/officeDocument/2006/relationships/hyperlink" Target="https://bugatti-asic.atlassian.net/browse/SKYSIM-243" TargetMode="External"/><Relationship Id="rId5" Type="http://schemas.openxmlformats.org/officeDocument/2006/relationships/hyperlink" Target="https://bugatti-asic.atlassian.net/browse/SKYSIM-237" TargetMode="External"/><Relationship Id="rId10" Type="http://schemas.openxmlformats.org/officeDocument/2006/relationships/hyperlink" Target="https://bugatti-asic.atlassian.net/browse/SKYSIM-242" TargetMode="External"/><Relationship Id="rId4" Type="http://schemas.openxmlformats.org/officeDocument/2006/relationships/hyperlink" Target="https://bugatti-asic.atlassian.net/browse/SKYSIM-236" TargetMode="External"/><Relationship Id="rId9" Type="http://schemas.openxmlformats.org/officeDocument/2006/relationships/hyperlink" Target="https://bugatti-asic.atlassian.net/browse/SKYSIM-241"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1830"/>
        </a:solidFill>
        <a:effectLst/>
      </p:bgPr>
    </p:bg>
    <p:spTree>
      <p:nvGrpSpPr>
        <p:cNvPr id="1" name="Shape 15"/>
        <p:cNvGrpSpPr/>
        <p:nvPr/>
      </p:nvGrpSpPr>
      <p:grpSpPr>
        <a:xfrm>
          <a:off x="0" y="0"/>
          <a:ext cx="0" cy="0"/>
          <a:chOff x="0" y="0"/>
          <a:chExt cx="0" cy="0"/>
        </a:xfrm>
      </p:grpSpPr>
      <p:sp>
        <p:nvSpPr>
          <p:cNvPr id="16" name="Google Shape;16;p1"/>
          <p:cNvSpPr/>
          <p:nvPr/>
        </p:nvSpPr>
        <p:spPr>
          <a:xfrm>
            <a:off x="457200" y="1097280"/>
            <a:ext cx="41148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E19E"/>
              </a:buClr>
              <a:buSzPts val="2200"/>
              <a:buFont typeface="Calibri"/>
              <a:buNone/>
            </a:pPr>
            <a:r>
              <a:rPr lang="en-US" sz="2200" b="1" i="0" u="none" strike="noStrike" cap="none">
                <a:solidFill>
                  <a:srgbClr val="FFE19E"/>
                </a:solidFill>
                <a:latin typeface="Calibri"/>
                <a:ea typeface="Calibri"/>
                <a:cs typeface="Calibri"/>
                <a:sym typeface="Calibri"/>
              </a:rPr>
              <a:t>UP  </a:t>
            </a:r>
            <a:r>
              <a:rPr lang="en-US" sz="2200" b="1" i="0" u="none" strike="noStrike" cap="none">
                <a:solidFill>
                  <a:srgbClr val="FFFFFF"/>
                </a:solidFill>
                <a:latin typeface="Calibri"/>
                <a:ea typeface="Calibri"/>
                <a:cs typeface="Calibri"/>
                <a:sym typeface="Calibri"/>
              </a:rPr>
              <a:t>upscale </a:t>
            </a:r>
            <a:r>
              <a:rPr lang="en-US" sz="2200" b="0" i="0" u="none" strike="noStrike" cap="none">
                <a:solidFill>
                  <a:srgbClr val="FFE19E"/>
                </a:solidFill>
                <a:latin typeface="Calibri"/>
                <a:ea typeface="Calibri"/>
                <a:cs typeface="Calibri"/>
                <a:sym typeface="Calibri"/>
              </a:rPr>
              <a:t>ai</a:t>
            </a:r>
            <a:endParaRPr sz="2200" b="0" i="0" u="none" strike="noStrike" cap="none">
              <a:solidFill>
                <a:schemeClr val="dk1"/>
              </a:solidFill>
              <a:latin typeface="Calibri"/>
              <a:ea typeface="Calibri"/>
              <a:cs typeface="Calibri"/>
              <a:sym typeface="Calibri"/>
            </a:endParaRPr>
          </a:p>
        </p:txBody>
      </p:sp>
      <p:sp>
        <p:nvSpPr>
          <p:cNvPr id="17" name="Google Shape;17;p1"/>
          <p:cNvSpPr/>
          <p:nvPr/>
        </p:nvSpPr>
        <p:spPr>
          <a:xfrm>
            <a:off x="457200" y="1828800"/>
            <a:ext cx="3200400" cy="36576"/>
          </a:xfrm>
          <a:prstGeom prst="rect">
            <a:avLst/>
          </a:prstGeom>
          <a:solidFill>
            <a:srgbClr val="FFE19E"/>
          </a:solidFill>
          <a:ln w="12700" cap="flat" cmpd="sng">
            <a:solidFill>
              <a:srgbClr val="FFE19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1"/>
          <p:cNvSpPr/>
          <p:nvPr/>
        </p:nvSpPr>
        <p:spPr>
          <a:xfrm>
            <a:off x="457200" y="1965960"/>
            <a:ext cx="4389120" cy="128016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chemeClr val="dk1"/>
              </a:buClr>
              <a:buSzPts val="1100"/>
              <a:buFont typeface="Arial"/>
              <a:buNone/>
            </a:pPr>
            <a:r>
              <a:rPr lang="en-US" sz="1950" b="0" i="1" u="none" strike="noStrike" cap="none">
                <a:solidFill>
                  <a:srgbClr val="FEDB8D"/>
                </a:solidFill>
                <a:latin typeface="Arial"/>
                <a:ea typeface="Arial"/>
                <a:cs typeface="Arial"/>
                <a:sym typeface="Arial"/>
              </a:rPr>
              <a:t>Mirror CCC</a:t>
            </a:r>
            <a:endParaRPr sz="1950" b="0" i="1" u="none" strike="noStrike" cap="none">
              <a:solidFill>
                <a:srgbClr val="FEDB8D"/>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US" sz="1950" b="0" i="1" u="none" strike="noStrike" cap="none">
                <a:solidFill>
                  <a:srgbClr val="FEDB8D"/>
                </a:solidFill>
                <a:latin typeface="Arial"/>
                <a:ea typeface="Arial"/>
                <a:cs typeface="Arial"/>
                <a:sym typeface="Arial"/>
              </a:rPr>
              <a:t>in the Bugatti ASIC</a:t>
            </a:r>
            <a:endParaRPr sz="2600" b="0" i="1" u="none" strike="noStrike" cap="none">
              <a:solidFill>
                <a:srgbClr val="FFE19E"/>
              </a:solidFill>
              <a:latin typeface="Calibri"/>
              <a:ea typeface="Calibri"/>
              <a:cs typeface="Calibri"/>
              <a:sym typeface="Calibri"/>
            </a:endParaRPr>
          </a:p>
        </p:txBody>
      </p:sp>
      <p:sp>
        <p:nvSpPr>
          <p:cNvPr id="19" name="Google Shape;19;p1"/>
          <p:cNvSpPr/>
          <p:nvPr/>
        </p:nvSpPr>
        <p:spPr>
          <a:xfrm>
            <a:off x="457200" y="3383280"/>
            <a:ext cx="3657600" cy="32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AABBCC"/>
              </a:buClr>
              <a:buSzPts val="1100"/>
              <a:buFont typeface="Calibri"/>
              <a:buNone/>
            </a:pPr>
            <a:r>
              <a:rPr lang="en-US" sz="1100" b="0" i="1" u="none" strike="noStrike" cap="none">
                <a:solidFill>
                  <a:srgbClr val="AABBCC"/>
                </a:solidFill>
                <a:latin typeface="Calibri"/>
                <a:ea typeface="Calibri"/>
                <a:cs typeface="Calibri"/>
                <a:sym typeface="Calibri"/>
              </a:rPr>
              <a:t>Authors: Shafi/Thippanna</a:t>
            </a:r>
            <a:endParaRPr sz="1100" b="0" i="0" u="none" strike="noStrike" cap="none">
              <a:solidFill>
                <a:schemeClr val="dk1"/>
              </a:solidFill>
              <a:latin typeface="Calibri"/>
              <a:ea typeface="Calibri"/>
              <a:cs typeface="Calibri"/>
              <a:sym typeface="Calibri"/>
            </a:endParaRPr>
          </a:p>
        </p:txBody>
      </p:sp>
      <p:sp>
        <p:nvSpPr>
          <p:cNvPr id="20" name="Google Shape;20;p1"/>
          <p:cNvSpPr/>
          <p:nvPr/>
        </p:nvSpPr>
        <p:spPr>
          <a:xfrm>
            <a:off x="457200" y="3749040"/>
            <a:ext cx="365760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78899"/>
              </a:buClr>
              <a:buSzPts val="1000"/>
              <a:buFont typeface="Calibri"/>
              <a:buNone/>
            </a:pPr>
            <a:r>
              <a:rPr lang="en-US" sz="1000" b="0" i="0" u="none" strike="noStrike" cap="none">
                <a:solidFill>
                  <a:srgbClr val="778899"/>
                </a:solidFill>
                <a:latin typeface="Calibri"/>
                <a:ea typeface="Calibri"/>
                <a:cs typeface="Calibri"/>
                <a:sym typeface="Calibri"/>
              </a:rPr>
              <a:t>Hardware/Architecture CCC</a:t>
            </a:r>
            <a:endParaRPr sz="1000" b="0" i="0" u="none" strike="noStrike" cap="none">
              <a:solidFill>
                <a:schemeClr val="dk1"/>
              </a:solidFill>
              <a:latin typeface="Calibri"/>
              <a:ea typeface="Calibri"/>
              <a:cs typeface="Calibri"/>
              <a:sym typeface="Calibri"/>
            </a:endParaRPr>
          </a:p>
        </p:txBody>
      </p:sp>
      <p:sp>
        <p:nvSpPr>
          <p:cNvPr id="21" name="Google Shape;21;p1"/>
          <p:cNvSpPr/>
          <p:nvPr/>
        </p:nvSpPr>
        <p:spPr>
          <a:xfrm>
            <a:off x="4572000" y="0"/>
            <a:ext cx="4572000" cy="4869180"/>
          </a:xfrm>
          <a:prstGeom prst="rect">
            <a:avLst/>
          </a:prstGeom>
          <a:solidFill>
            <a:srgbClr val="071E35"/>
          </a:solidFill>
          <a:ln w="12700" cap="flat" cmpd="sng">
            <a:solidFill>
              <a:srgbClr val="071E3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1"/>
          <p:cNvSpPr/>
          <p:nvPr/>
        </p:nvSpPr>
        <p:spPr>
          <a:xfrm>
            <a:off x="4846320" y="274320"/>
            <a:ext cx="27432" cy="1371600"/>
          </a:xfrm>
          <a:prstGeom prst="rect">
            <a:avLst/>
          </a:prstGeom>
          <a:solidFill>
            <a:srgbClr val="C8A85A">
              <a:alpha val="40000"/>
            </a:srgbClr>
          </a:solidFill>
          <a:ln w="12700" cap="flat" cmpd="sng">
            <a:solidFill>
              <a:srgbClr val="C8A85A">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1"/>
          <p:cNvSpPr/>
          <p:nvPr/>
        </p:nvSpPr>
        <p:spPr>
          <a:xfrm>
            <a:off x="5394960" y="274320"/>
            <a:ext cx="27432" cy="1645920"/>
          </a:xfrm>
          <a:prstGeom prst="rect">
            <a:avLst/>
          </a:prstGeom>
          <a:solidFill>
            <a:srgbClr val="C8A85A">
              <a:alpha val="40000"/>
            </a:srgbClr>
          </a:solidFill>
          <a:ln w="12700" cap="flat" cmpd="sng">
            <a:solidFill>
              <a:srgbClr val="C8A85A">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1"/>
          <p:cNvSpPr/>
          <p:nvPr/>
        </p:nvSpPr>
        <p:spPr>
          <a:xfrm>
            <a:off x="5943600" y="274320"/>
            <a:ext cx="27432" cy="1920240"/>
          </a:xfrm>
          <a:prstGeom prst="rect">
            <a:avLst/>
          </a:prstGeom>
          <a:solidFill>
            <a:srgbClr val="C8A85A">
              <a:alpha val="40000"/>
            </a:srgbClr>
          </a:solidFill>
          <a:ln w="12700" cap="flat" cmpd="sng">
            <a:solidFill>
              <a:srgbClr val="C8A85A">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1"/>
          <p:cNvSpPr/>
          <p:nvPr/>
        </p:nvSpPr>
        <p:spPr>
          <a:xfrm>
            <a:off x="6492240" y="274320"/>
            <a:ext cx="27432" cy="2194560"/>
          </a:xfrm>
          <a:prstGeom prst="rect">
            <a:avLst/>
          </a:prstGeom>
          <a:solidFill>
            <a:srgbClr val="C8A85A">
              <a:alpha val="40000"/>
            </a:srgbClr>
          </a:solidFill>
          <a:ln w="12700" cap="flat" cmpd="sng">
            <a:solidFill>
              <a:srgbClr val="C8A85A">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1"/>
          <p:cNvSpPr/>
          <p:nvPr/>
        </p:nvSpPr>
        <p:spPr>
          <a:xfrm>
            <a:off x="7040880" y="274320"/>
            <a:ext cx="27432" cy="2468880"/>
          </a:xfrm>
          <a:prstGeom prst="rect">
            <a:avLst/>
          </a:prstGeom>
          <a:solidFill>
            <a:srgbClr val="C8A85A">
              <a:alpha val="40000"/>
            </a:srgbClr>
          </a:solidFill>
          <a:ln w="12700" cap="flat" cmpd="sng">
            <a:solidFill>
              <a:srgbClr val="C8A85A">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1"/>
          <p:cNvSpPr/>
          <p:nvPr/>
        </p:nvSpPr>
        <p:spPr>
          <a:xfrm>
            <a:off x="7589520" y="274320"/>
            <a:ext cx="27432" cy="2743200"/>
          </a:xfrm>
          <a:prstGeom prst="rect">
            <a:avLst/>
          </a:prstGeom>
          <a:solidFill>
            <a:srgbClr val="C8A85A">
              <a:alpha val="40000"/>
            </a:srgbClr>
          </a:solidFill>
          <a:ln w="12700" cap="flat" cmpd="sng">
            <a:solidFill>
              <a:srgbClr val="C8A85A">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1"/>
          <p:cNvSpPr/>
          <p:nvPr/>
        </p:nvSpPr>
        <p:spPr>
          <a:xfrm>
            <a:off x="4846320" y="457200"/>
            <a:ext cx="3200400" cy="27432"/>
          </a:xfrm>
          <a:prstGeom prst="rect">
            <a:avLst/>
          </a:prstGeom>
          <a:solidFill>
            <a:srgbClr val="C8A85A">
              <a:alpha val="40000"/>
            </a:srgbClr>
          </a:solidFill>
          <a:ln w="12700" cap="flat" cmpd="sng">
            <a:solidFill>
              <a:srgbClr val="C8A85A">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1"/>
          <p:cNvSpPr/>
          <p:nvPr/>
        </p:nvSpPr>
        <p:spPr>
          <a:xfrm>
            <a:off x="4846320" y="1188720"/>
            <a:ext cx="2834640" cy="27432"/>
          </a:xfrm>
          <a:prstGeom prst="rect">
            <a:avLst/>
          </a:prstGeom>
          <a:solidFill>
            <a:srgbClr val="C8A85A">
              <a:alpha val="40000"/>
            </a:srgbClr>
          </a:solidFill>
          <a:ln w="12700" cap="flat" cmpd="sng">
            <a:solidFill>
              <a:srgbClr val="C8A85A">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1"/>
          <p:cNvSpPr/>
          <p:nvPr/>
        </p:nvSpPr>
        <p:spPr>
          <a:xfrm>
            <a:off x="4846320" y="1920240"/>
            <a:ext cx="2468880" cy="27432"/>
          </a:xfrm>
          <a:prstGeom prst="rect">
            <a:avLst/>
          </a:prstGeom>
          <a:solidFill>
            <a:srgbClr val="C8A85A">
              <a:alpha val="40000"/>
            </a:srgbClr>
          </a:solidFill>
          <a:ln w="12700" cap="flat" cmpd="sng">
            <a:solidFill>
              <a:srgbClr val="C8A85A">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1"/>
          <p:cNvSpPr/>
          <p:nvPr/>
        </p:nvSpPr>
        <p:spPr>
          <a:xfrm>
            <a:off x="4846320" y="2651760"/>
            <a:ext cx="2103120" cy="27432"/>
          </a:xfrm>
          <a:prstGeom prst="rect">
            <a:avLst/>
          </a:prstGeom>
          <a:solidFill>
            <a:srgbClr val="C8A85A">
              <a:alpha val="40000"/>
            </a:srgbClr>
          </a:solidFill>
          <a:ln w="12700" cap="flat" cmpd="sng">
            <a:solidFill>
              <a:srgbClr val="C8A85A">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1"/>
          <p:cNvSpPr/>
          <p:nvPr/>
        </p:nvSpPr>
        <p:spPr>
          <a:xfrm>
            <a:off x="5760720" y="1463040"/>
            <a:ext cx="2286000" cy="1828800"/>
          </a:xfrm>
          <a:prstGeom prst="roundRect">
            <a:avLst>
              <a:gd name="adj" fmla="val 6000"/>
            </a:avLst>
          </a:prstGeom>
          <a:solidFill>
            <a:srgbClr val="0A2744"/>
          </a:solidFill>
          <a:ln w="25400" cap="flat" cmpd="sng">
            <a:solidFill>
              <a:srgbClr val="FFE19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1"/>
          <p:cNvSpPr/>
          <p:nvPr/>
        </p:nvSpPr>
        <p:spPr>
          <a:xfrm>
            <a:off x="5760720" y="1737360"/>
            <a:ext cx="2286000" cy="128016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E19E"/>
              </a:buClr>
              <a:buSzPts val="2200"/>
              <a:buFont typeface="Calibri"/>
              <a:buNone/>
            </a:pPr>
            <a:r>
              <a:rPr lang="en-US" sz="2200" b="1" i="0" u="none" strike="noStrike" cap="none">
                <a:solidFill>
                  <a:srgbClr val="FFE19E"/>
                </a:solidFill>
                <a:latin typeface="Calibri"/>
                <a:ea typeface="Calibri"/>
                <a:cs typeface="Calibri"/>
                <a:sym typeface="Calibri"/>
              </a:rPr>
              <a:t>Bugatti</a:t>
            </a:r>
            <a:endParaRPr sz="22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E19E"/>
              </a:buClr>
              <a:buSzPts val="2200"/>
              <a:buFont typeface="Calibri"/>
              <a:buNone/>
            </a:pPr>
            <a:r>
              <a:rPr lang="en-US" sz="2200" b="1" i="0" u="none" strike="noStrike" cap="none">
                <a:solidFill>
                  <a:srgbClr val="FFE19E"/>
                </a:solidFill>
                <a:latin typeface="Calibri"/>
                <a:ea typeface="Calibri"/>
                <a:cs typeface="Calibri"/>
                <a:sym typeface="Calibri"/>
              </a:rPr>
              <a:t>ASIC</a:t>
            </a:r>
            <a:endParaRPr sz="2200" b="0" i="0" u="none" strike="noStrike" cap="none">
              <a:solidFill>
                <a:schemeClr val="dk1"/>
              </a:solidFill>
              <a:latin typeface="Calibri"/>
              <a:ea typeface="Calibri"/>
              <a:cs typeface="Calibri"/>
              <a:sym typeface="Calibri"/>
            </a:endParaRPr>
          </a:p>
        </p:txBody>
      </p:sp>
      <p:sp>
        <p:nvSpPr>
          <p:cNvPr id="34" name="Google Shape;34;p1"/>
          <p:cNvSpPr/>
          <p:nvPr/>
        </p:nvSpPr>
        <p:spPr>
          <a:xfrm>
            <a:off x="0" y="4850892"/>
            <a:ext cx="9144000" cy="18288"/>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1"/>
          <p:cNvSpPr/>
          <p:nvPr/>
        </p:nvSpPr>
        <p:spPr>
          <a:xfrm>
            <a:off x="0" y="4869180"/>
            <a:ext cx="9144000" cy="274320"/>
          </a:xfrm>
          <a:prstGeom prst="rect">
            <a:avLst/>
          </a:prstGeom>
          <a:solidFill>
            <a:srgbClr val="081F3A"/>
          </a:solidFill>
          <a:ln w="12700" cap="flat" cmpd="sng">
            <a:solidFill>
              <a:srgbClr val="081F3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1"/>
          <p:cNvSpPr/>
          <p:nvPr/>
        </p:nvSpPr>
        <p:spPr>
          <a:xfrm>
            <a:off x="274320" y="4887468"/>
            <a:ext cx="7772400" cy="20116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688AA"/>
              </a:buClr>
              <a:buSzPts val="700"/>
              <a:buFont typeface="Calibri"/>
              <a:buNone/>
            </a:pPr>
            <a:r>
              <a:rPr lang="en-US" sz="700" b="0" i="0" u="none" strike="noStrike" cap="none">
                <a:solidFill>
                  <a:srgbClr val="6688AA"/>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37" name="Google Shape;37;p1"/>
          <p:cNvSpPr/>
          <p:nvPr/>
        </p:nvSpPr>
        <p:spPr>
          <a:xfrm>
            <a:off x="7863840" y="4887468"/>
            <a:ext cx="1097280" cy="201168"/>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FFFFFF"/>
                </a:solidFill>
                <a:latin typeface="Calibri"/>
                <a:ea typeface="Calibri"/>
                <a:cs typeface="Calibri"/>
                <a:sym typeface="Calibri"/>
              </a:rPr>
              <a:t>upscale </a:t>
            </a:r>
            <a:r>
              <a:rPr lang="en-US" sz="900" b="0" i="0" u="none" strike="noStrike" cap="none">
                <a:solidFill>
                  <a:srgbClr val="FFE19E"/>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1830"/>
        </a:solidFill>
        <a:effectLst/>
      </p:bgPr>
    </p:bg>
    <p:spTree>
      <p:nvGrpSpPr>
        <p:cNvPr id="1" name="Shape 42"/>
        <p:cNvGrpSpPr/>
        <p:nvPr/>
      </p:nvGrpSpPr>
      <p:grpSpPr>
        <a:xfrm>
          <a:off x="0" y="0"/>
          <a:ext cx="0" cy="0"/>
          <a:chOff x="0" y="0"/>
          <a:chExt cx="0" cy="0"/>
        </a:xfrm>
      </p:grpSpPr>
      <p:sp>
        <p:nvSpPr>
          <p:cNvPr id="43" name="Google Shape;43;p2"/>
          <p:cNvSpPr/>
          <p:nvPr/>
        </p:nvSpPr>
        <p:spPr>
          <a:xfrm>
            <a:off x="457200" y="1645920"/>
            <a:ext cx="8229600" cy="16459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E19E"/>
              </a:buClr>
              <a:buSzPts val="4400"/>
              <a:buFont typeface="Calibri"/>
              <a:buNone/>
            </a:pPr>
            <a:r>
              <a:rPr lang="en-US" sz="4400" b="0" i="0" u="none" strike="noStrike" cap="none">
                <a:solidFill>
                  <a:srgbClr val="FFE19E"/>
                </a:solidFill>
                <a:latin typeface="Calibri"/>
                <a:ea typeface="Calibri"/>
                <a:cs typeface="Calibri"/>
                <a:sym typeface="Calibri"/>
              </a:rPr>
              <a:t>Hardware/Architecture CCC –</a:t>
            </a:r>
            <a:endParaRPr sz="440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chemeClr val="dk1"/>
              </a:buClr>
              <a:buSzPts val="1100"/>
              <a:buFont typeface="Arial"/>
              <a:buNone/>
            </a:pPr>
            <a:r>
              <a:rPr lang="en-US" sz="3300" b="0" i="0" u="none" strike="noStrike" cap="none">
                <a:solidFill>
                  <a:srgbClr val="FEDB8D"/>
                </a:solidFill>
                <a:latin typeface="Arial"/>
                <a:ea typeface="Arial"/>
                <a:cs typeface="Arial"/>
                <a:sym typeface="Arial"/>
              </a:rPr>
              <a:t>Mirror, Sflow, Trap, Copy, Inject, Drop,</a:t>
            </a:r>
            <a:endParaRPr sz="3300" b="0" i="0" u="none" strike="noStrike" cap="none">
              <a:solidFill>
                <a:srgbClr val="FEDB8D"/>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r>
              <a:rPr lang="en-US" sz="3300" b="0" i="0" u="none" strike="noStrike" cap="none">
                <a:solidFill>
                  <a:srgbClr val="FEDB8D"/>
                </a:solidFill>
                <a:latin typeface="Arial"/>
                <a:ea typeface="Arial"/>
                <a:cs typeface="Arial"/>
                <a:sym typeface="Arial"/>
              </a:rPr>
              <a:t>Punt</a:t>
            </a:r>
            <a:endParaRPr sz="4400" b="0" i="0" u="none" strike="noStrike" cap="none">
              <a:solidFill>
                <a:srgbClr val="FFE19E"/>
              </a:solidFill>
              <a:latin typeface="Calibri"/>
              <a:ea typeface="Calibri"/>
              <a:cs typeface="Calibri"/>
              <a:sym typeface="Calibri"/>
            </a:endParaRPr>
          </a:p>
        </p:txBody>
      </p:sp>
      <p:sp>
        <p:nvSpPr>
          <p:cNvPr id="44" name="Google Shape;44;p2"/>
          <p:cNvSpPr/>
          <p:nvPr/>
        </p:nvSpPr>
        <p:spPr>
          <a:xfrm>
            <a:off x="0" y="4850892"/>
            <a:ext cx="9144000" cy="18288"/>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2"/>
          <p:cNvSpPr/>
          <p:nvPr/>
        </p:nvSpPr>
        <p:spPr>
          <a:xfrm>
            <a:off x="0" y="4869180"/>
            <a:ext cx="9144000" cy="274320"/>
          </a:xfrm>
          <a:prstGeom prst="rect">
            <a:avLst/>
          </a:prstGeom>
          <a:solidFill>
            <a:srgbClr val="081F3A"/>
          </a:solidFill>
          <a:ln w="12700" cap="flat" cmpd="sng">
            <a:solidFill>
              <a:srgbClr val="081F3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2"/>
          <p:cNvSpPr/>
          <p:nvPr/>
        </p:nvSpPr>
        <p:spPr>
          <a:xfrm>
            <a:off x="274320" y="4887468"/>
            <a:ext cx="7772400" cy="20116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688AA"/>
              </a:buClr>
              <a:buSzPts val="700"/>
              <a:buFont typeface="Calibri"/>
              <a:buNone/>
            </a:pPr>
            <a:r>
              <a:rPr lang="en-US" sz="700" b="0" i="0" u="none" strike="noStrike" cap="none">
                <a:solidFill>
                  <a:srgbClr val="6688AA"/>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47" name="Google Shape;47;p2"/>
          <p:cNvSpPr/>
          <p:nvPr/>
        </p:nvSpPr>
        <p:spPr>
          <a:xfrm>
            <a:off x="7863840" y="4887468"/>
            <a:ext cx="1097280" cy="201168"/>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FFFFFF"/>
                </a:solidFill>
                <a:latin typeface="Calibri"/>
                <a:ea typeface="Calibri"/>
                <a:cs typeface="Calibri"/>
                <a:sym typeface="Calibri"/>
              </a:rPr>
              <a:t>upscale </a:t>
            </a:r>
            <a:r>
              <a:rPr lang="en-US" sz="900" b="0" i="0" u="none" strike="noStrike" cap="none">
                <a:solidFill>
                  <a:srgbClr val="FFE19E"/>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2"/>
        <p:cNvGrpSpPr/>
        <p:nvPr/>
      </p:nvGrpSpPr>
      <p:grpSpPr>
        <a:xfrm>
          <a:off x="0" y="0"/>
          <a:ext cx="0" cy="0"/>
          <a:chOff x="0" y="0"/>
          <a:chExt cx="0" cy="0"/>
        </a:xfrm>
      </p:grpSpPr>
      <p:sp>
        <p:nvSpPr>
          <p:cNvPr id="53" name="Google Shape;53;g38b39bbdc2a_0_10"/>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Ingress / Egress Mirror Capability</a:t>
            </a:r>
            <a:endParaRPr sz="3000" b="0" i="0" u="none" strike="noStrike" cap="none">
              <a:solidFill>
                <a:schemeClr val="dk1"/>
              </a:solidFill>
              <a:latin typeface="Calibri"/>
              <a:ea typeface="Calibri"/>
              <a:cs typeface="Calibri"/>
              <a:sym typeface="Calibri"/>
            </a:endParaRPr>
          </a:p>
        </p:txBody>
      </p:sp>
      <p:sp>
        <p:nvSpPr>
          <p:cNvPr id="54" name="Google Shape;54;g38b39bbdc2a_0_10"/>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g38b39bbdc2a_0_10"/>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g38b39bbdc2a_0_10"/>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57" name="Google Shape;57;g38b39bbdc2a_0_10"/>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58" name="Google Shape;58;g38b39bbdc2a_0_10"/>
          <p:cNvSpPr txBox="1"/>
          <p:nvPr/>
        </p:nvSpPr>
        <p:spPr>
          <a:xfrm>
            <a:off x="411475" y="795525"/>
            <a:ext cx="8321100" cy="39174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Supports 4 mirror sessions shared across ingress and egress</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Session types supported are: SPAN, RSPAN and ERSPAN or any user specified encapsulation.</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Supports two destination ports for mirroring: CPU port or Monitor port.</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Allows port binding of any SN ports to one of the 4 mirror sessions.</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Allow binding of a mirror session to a specific flow via an ingress/egress match ACL rule.</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Allow selective per-flow ingress mirror suppression without removing the port binding.</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Allow binding of a ingress mirror session with a specific forwarding table entry. </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Allow binding of a ingress mirror session with a drop reason code (mirror on drop).</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Mirror copy takes a independent flow as original packet continues its normal flow.</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Mirror copy carries metadata with source port and timestamp. (SKYSIM-208)</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Ingress Mirror copy guarantees the collector to see the exact packet as it arrived at port.</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Egress Mirror copy as seen by collector is same as the packet transmitted on wire. (SKYSIM-209)</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Ingress and egress mirror copies are fully independent and can trigger on same packet flow.</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Per-session rate limiting with token_max (255) and token_interval (24 bit) (examples in next slide)</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Per-session 40 bit packet counter for mirrored packets. (SKYSIM-210)</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Any number of ports across SNs can bind to same session.</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Priority override ordering for mirror: Port based (low), followed by forwarding, flow based, drop-reason based.</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3"/>
        <p:cNvGrpSpPr/>
        <p:nvPr/>
      </p:nvGrpSpPr>
      <p:grpSpPr>
        <a:xfrm>
          <a:off x="0" y="0"/>
          <a:ext cx="0" cy="0"/>
          <a:chOff x="0" y="0"/>
          <a:chExt cx="0" cy="0"/>
        </a:xfrm>
      </p:grpSpPr>
      <p:sp>
        <p:nvSpPr>
          <p:cNvPr id="64" name="Google Shape;64;g38b39bbdc2a_0_20"/>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Ingress / Egress Mirror Capacity</a:t>
            </a:r>
            <a:endParaRPr sz="3000" b="0" i="0" u="none" strike="noStrike" cap="none">
              <a:solidFill>
                <a:schemeClr val="dk1"/>
              </a:solidFill>
              <a:latin typeface="Calibri"/>
              <a:ea typeface="Calibri"/>
              <a:cs typeface="Calibri"/>
              <a:sym typeface="Calibri"/>
            </a:endParaRPr>
          </a:p>
        </p:txBody>
      </p:sp>
      <p:sp>
        <p:nvSpPr>
          <p:cNvPr id="65" name="Google Shape;65;g38b39bbdc2a_0_20"/>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g38b39bbdc2a_0_20"/>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g38b39bbdc2a_0_20"/>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68" name="Google Shape;68;g38b39bbdc2a_0_20"/>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69" name="Google Shape;69;g38b39bbdc2a_0_20"/>
          <p:cNvSpPr txBox="1"/>
          <p:nvPr/>
        </p:nvSpPr>
        <p:spPr>
          <a:xfrm>
            <a:off x="411475" y="795525"/>
            <a:ext cx="8321100" cy="32535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Max mirror sessions (collector config) = 4</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Max mirror destination ports = 2 (fixed CPU and Monitor ports)</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Mirror copy truncation = 128 bytes, if packet greater than 128 bytes. (SKYSIM-112)</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Rate limiting with token_max (255) and token_interval (32 bits)</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token_max=0 suppresses all mirror packets for that binded session.</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token_interval of 1 clock cycle sustains ~1 Gpps mirror rate  (min, max, granularity)</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token_interval of 1,000 clock cycles sustains ~1 Mpps mirror rate</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token_interval = 1,000,000,000 / target_pps.</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To achieve 500 Mpps, token_interval = 1,000,000,000 / 500,000,000 = 2</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Based on token_interval 32 bits, maximum rate for token_interval 1 is 1 Gpps and minimum rate with token_interval 2^32 - 1 = 0.23 pps. Granularity = 1 ns at 1 GHz.</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Per session packet counter of 40 bits per SN</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Up to 16 distinct drop reason codes can be mapped to mirror session.</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Up to 16 per ACL flow rules can be configured with mirror enable action.</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4"/>
        <p:cNvGrpSpPr/>
        <p:nvPr/>
      </p:nvGrpSpPr>
      <p:grpSpPr>
        <a:xfrm>
          <a:off x="0" y="0"/>
          <a:ext cx="0" cy="0"/>
          <a:chOff x="0" y="0"/>
          <a:chExt cx="0" cy="0"/>
        </a:xfrm>
      </p:grpSpPr>
      <p:sp>
        <p:nvSpPr>
          <p:cNvPr id="75" name="Google Shape;75;g38b39bbdc2a_0_30"/>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Ingress / Egress Mirror Constraints</a:t>
            </a:r>
            <a:endParaRPr sz="3000" b="0" i="0" u="none" strike="noStrike" cap="none">
              <a:solidFill>
                <a:schemeClr val="dk1"/>
              </a:solidFill>
              <a:latin typeface="Calibri"/>
              <a:ea typeface="Calibri"/>
              <a:cs typeface="Calibri"/>
              <a:sym typeface="Calibri"/>
            </a:endParaRPr>
          </a:p>
        </p:txBody>
      </p:sp>
      <p:sp>
        <p:nvSpPr>
          <p:cNvPr id="76" name="Google Shape;76;g38b39bbdc2a_0_30"/>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38b39bbdc2a_0_30"/>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38b39bbdc2a_0_30"/>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79" name="Google Shape;79;g38b39bbdc2a_0_30"/>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80" name="Google Shape;80;g38b39bbdc2a_0_30"/>
          <p:cNvSpPr txBox="1"/>
          <p:nvPr/>
        </p:nvSpPr>
        <p:spPr>
          <a:xfrm>
            <a:off x="411475" y="795525"/>
            <a:ext cx="8321100" cy="30324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Mirror copies are truncated to fixed 128 bytes (not configurable), (SKYSIM-112)</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Destination port for mirror copies is either CPU or monitor port.</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Multiple destinations from a single mirror session is not supported</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ERSPAN copies are currently missing implementation and timestamp (SKYSIM-208, SKYSIM-209)</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Ingress Cancel rule does not supress the subsequent drop reason mirror (SKYSIM-212 )</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Fixed non configurable override rules when multiple mirror rules trigger.</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Mirror session counters within SN are aggregate of all the flows which gets mirrored on that session.(SKYSIM213)</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Mirror counters for same mirror session across different SNs are different and SDK need to aggregate.</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Mirror token bucket is per-session only. Per-port configuration not supported (SKYSIM-219)</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eACL configuration does not support mirror cancellation (SKYSIM-226)</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No check to suppress mirror copy if destination port is same as ingress port (Need SDK Policy set)</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eACL hit with mirror action zero, silently suppresses egress port mirror (SKYSIM-179)</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5"/>
        <p:cNvGrpSpPr/>
        <p:nvPr/>
      </p:nvGrpSpPr>
      <p:grpSpPr>
        <a:xfrm>
          <a:off x="0" y="0"/>
          <a:ext cx="0" cy="0"/>
          <a:chOff x="0" y="0"/>
          <a:chExt cx="0" cy="0"/>
        </a:xfrm>
      </p:grpSpPr>
      <p:sp>
        <p:nvSpPr>
          <p:cNvPr id="86" name="Google Shape;86;g3d542e4bd64_0_0"/>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sFlow sampling Capability</a:t>
            </a:r>
            <a:endParaRPr sz="3000" b="0" i="0" u="none" strike="noStrike" cap="none">
              <a:solidFill>
                <a:schemeClr val="dk1"/>
              </a:solidFill>
              <a:latin typeface="Calibri"/>
              <a:ea typeface="Calibri"/>
              <a:cs typeface="Calibri"/>
              <a:sym typeface="Calibri"/>
            </a:endParaRPr>
          </a:p>
        </p:txBody>
      </p:sp>
      <p:sp>
        <p:nvSpPr>
          <p:cNvPr id="87" name="Google Shape;87;g3d542e4bd64_0_0"/>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g3d542e4bd64_0_0"/>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g3d542e4bd64_0_0"/>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90" name="Google Shape;90;g3d542e4bd64_0_0"/>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91" name="Google Shape;91;g3d542e4bd64_0_0"/>
          <p:cNvSpPr txBox="1"/>
          <p:nvPr/>
        </p:nvSpPr>
        <p:spPr>
          <a:xfrm>
            <a:off x="411475" y="795525"/>
            <a:ext cx="8622000" cy="28110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Supports 4 sFlow sampling sessions independently configurable with their own sampling rate &amp; destination.</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Session destination types supported: sample to CPU port or sample to Monitor port.</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Allows per-ingress-port binding of any SN port to a sampling session.</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Any number of ports across all SNs can bind to the same session index.</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Allows binding of a sampling session to a specific flow via an ingress ACL rule; ACL rule can either enable sampling with a specific session or cancel sampling that was already enabled by the port binding.</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Allows binding of a sampling session to a forwarding table entry.</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Sampling decision is independent of the original packet which continues its normal forwarding path.</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Sampling is probabilistic via a 24-bit LFSR per session; Example, threshold for 1 sample in 10 is 1677721. (Minimum : 1 packet in 16777215 sampled. Maximum rate : every packet sampled.)</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sFlow sample copy is truncated (128 bytes) and delivered to the configured destination with ingress metadata carrying source port, copy reason, and drop status; timestamp is set to zero in the copy header (SKYSIM-211).</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6"/>
        <p:cNvGrpSpPr/>
        <p:nvPr/>
      </p:nvGrpSpPr>
      <p:grpSpPr>
        <a:xfrm>
          <a:off x="0" y="0"/>
          <a:ext cx="0" cy="0"/>
          <a:chOff x="0" y="0"/>
          <a:chExt cx="0" cy="0"/>
        </a:xfrm>
      </p:grpSpPr>
      <p:sp>
        <p:nvSpPr>
          <p:cNvPr id="97" name="Google Shape;97;g3d542e4bd64_0_30"/>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sFlow sampling Capability Contd…</a:t>
            </a:r>
            <a:endParaRPr sz="3000" b="0" i="0" u="none" strike="noStrike" cap="none">
              <a:solidFill>
                <a:schemeClr val="dk1"/>
              </a:solidFill>
              <a:latin typeface="Calibri"/>
              <a:ea typeface="Calibri"/>
              <a:cs typeface="Calibri"/>
              <a:sym typeface="Calibri"/>
            </a:endParaRPr>
          </a:p>
        </p:txBody>
      </p:sp>
      <p:sp>
        <p:nvSpPr>
          <p:cNvPr id="98" name="Google Shape;98;g3d542e4bd64_0_30"/>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g3d542e4bd64_0_30"/>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g3d542e4bd64_0_30"/>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101" name="Google Shape;101;g3d542e4bd64_0_30"/>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102" name="Google Shape;102;g3d542e4bd64_0_30"/>
          <p:cNvSpPr txBox="1"/>
          <p:nvPr/>
        </p:nvSpPr>
        <p:spPr>
          <a:xfrm>
            <a:off x="411475" y="795525"/>
            <a:ext cx="8622000" cy="17046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Per-session, two 40 bit counters per SN, independently track total eligible packets (all evaluated by the session) and total sampled packets (copy dispatched).</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Counters get aggregated within SN for each session. (SKYSIM214)</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Priority override ordering for sFlow trigger: port-based (lowest), followed by forwarding table entry (enable only, cannot cancel), followed by ACL rule (enable or cancel, highest).</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sFlow and mirroring can be configured simultaneously; only one copy per packet is dispatched based on fixed priority: drop-reason mirror (P1) &gt; copy-to-CPU (P2) &gt; sFlow (P3) &gt; regular mirror (P4).</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7"/>
        <p:cNvGrpSpPr/>
        <p:nvPr/>
      </p:nvGrpSpPr>
      <p:grpSpPr>
        <a:xfrm>
          <a:off x="0" y="0"/>
          <a:ext cx="0" cy="0"/>
          <a:chOff x="0" y="0"/>
          <a:chExt cx="0" cy="0"/>
        </a:xfrm>
      </p:grpSpPr>
      <p:sp>
        <p:nvSpPr>
          <p:cNvPr id="108" name="Google Shape;108;g3d542e4bd64_0_10"/>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sFlow sampling Capacity</a:t>
            </a:r>
            <a:endParaRPr sz="3000" b="0" i="0" u="none" strike="noStrike" cap="none">
              <a:solidFill>
                <a:schemeClr val="dk1"/>
              </a:solidFill>
              <a:latin typeface="Calibri"/>
              <a:ea typeface="Calibri"/>
              <a:cs typeface="Calibri"/>
              <a:sym typeface="Calibri"/>
            </a:endParaRPr>
          </a:p>
        </p:txBody>
      </p:sp>
      <p:sp>
        <p:nvSpPr>
          <p:cNvPr id="109" name="Google Shape;109;g3d542e4bd64_0_10"/>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g3d542e4bd64_0_10"/>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g3d542e4bd64_0_10"/>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112" name="Google Shape;112;g3d542e4bd64_0_10"/>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113" name="Google Shape;113;g3d542e4bd64_0_10"/>
          <p:cNvSpPr txBox="1"/>
          <p:nvPr/>
        </p:nvSpPr>
        <p:spPr>
          <a:xfrm>
            <a:off x="411475" y="795525"/>
            <a:ext cx="8321100" cy="34749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Max sFlow sessions = 4 (session index 0–3; 2-bit profile field)</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Max sample destination ports = 2 (fixed: CPU port OQ 4–7, Monitor port OQ 12–15)</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Sample copy truncation = 128 bytes (if packet is greater than 128 bytes; shorter packets delivered in full)</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Sampling rate control: 24-bit LFSR threshold per session; threshold 0 = never sample, 16777215 = always sample</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For a 1-in-N ingress sample rate, SDK programs threshold = floor(16,777,215 / N)</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Sampling is probabilistic via a 24-bit LFSR per session; Example, threshold for 1 sample in 10 is 1677721. (Minimum : 1 packet in 16777215 sampled. Maximum rate : every packet sampled.)</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Configurable output queue per session = 4 choices (2-bit queue index selects among 4 queues at the destination port)</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Per-session eligible packet counter = 40 bits per SN (32-bit lower word + 8-bit upper byte, two register words)</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Per-session sampled packet counter = 40 bits per SN (same structure)</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Number of sFlow sessions bindable per ingress port = 1 (one profile index per port at a time)</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Up to 16 flow rules per ACL tier can be configured with sFlow enable or cancel action.</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All 6 forwarding tables support per-entry sFlow session binding (may need vendor extension)</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8"/>
        <p:cNvGrpSpPr/>
        <p:nvPr/>
      </p:nvGrpSpPr>
      <p:grpSpPr>
        <a:xfrm>
          <a:off x="0" y="0"/>
          <a:ext cx="0" cy="0"/>
          <a:chOff x="0" y="0"/>
          <a:chExt cx="0" cy="0"/>
        </a:xfrm>
      </p:grpSpPr>
      <p:sp>
        <p:nvSpPr>
          <p:cNvPr id="119" name="Google Shape;119;g3d542e4bd64_0_20"/>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sFlow sampling Constraints</a:t>
            </a:r>
            <a:endParaRPr sz="3000" b="0" i="0" u="none" strike="noStrike" cap="none">
              <a:solidFill>
                <a:schemeClr val="dk1"/>
              </a:solidFill>
              <a:latin typeface="Calibri"/>
              <a:ea typeface="Calibri"/>
              <a:cs typeface="Calibri"/>
              <a:sym typeface="Calibri"/>
            </a:endParaRPr>
          </a:p>
        </p:txBody>
      </p:sp>
      <p:sp>
        <p:nvSpPr>
          <p:cNvPr id="120" name="Google Shape;120;g3d542e4bd64_0_20"/>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g3d542e4bd64_0_20"/>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g3d542e4bd64_0_20"/>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123" name="Google Shape;123;g3d542e4bd64_0_20"/>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124" name="Google Shape;124;g3d542e4bd64_0_20"/>
          <p:cNvSpPr txBox="1"/>
          <p:nvPr/>
        </p:nvSpPr>
        <p:spPr>
          <a:xfrm>
            <a:off x="411475" y="795525"/>
            <a:ext cx="8321100" cy="28110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sFlow session binding is ingress-only; egress port binding is not supported (SKYSIM-227).</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Sample copy truncation is fixed at 128 bytes and is not configurable.</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LFSR seed register (24-bit) exists but is ignored by the model; seed is hardcoded to 0xACE1 (SKYSIM-228).</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LFSR shared across ports on same session. per-port sampling decisions cannot be independent (SKYSIM-217).</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Only one copy per packet is dispatched regardless of how many triggers fire; sFlow copy (P3) loses to drop-reason mirror (P1) and copy-to-CPU (P2); sFlow wins over regular mirror (P4).</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The sFlow sampling decision does not check the packet drop state</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sFlow sample copy metadata fields for sampled-packet count and eligible-packet count are hardcoded to zero in the delivered copy header (SKYSIM-229).</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Hardware timestamp in the sFlow sample copy header is hardcoded to zero (SKYSIM-208).</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4 observation points per SN (for mirror also) and need to be on same SN.</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9"/>
        <p:cNvGrpSpPr/>
        <p:nvPr/>
      </p:nvGrpSpPr>
      <p:grpSpPr>
        <a:xfrm>
          <a:off x="0" y="0"/>
          <a:ext cx="0" cy="0"/>
          <a:chOff x="0" y="0"/>
          <a:chExt cx="0" cy="0"/>
        </a:xfrm>
      </p:grpSpPr>
      <p:sp>
        <p:nvSpPr>
          <p:cNvPr id="130" name="Google Shape;130;g38b39bbdc2a_0_41"/>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Copy to CPU Capability</a:t>
            </a:r>
            <a:endParaRPr sz="3000" b="0" i="0" u="none" strike="noStrike" cap="none">
              <a:solidFill>
                <a:schemeClr val="dk1"/>
              </a:solidFill>
              <a:latin typeface="Calibri"/>
              <a:ea typeface="Calibri"/>
              <a:cs typeface="Calibri"/>
              <a:sym typeface="Calibri"/>
            </a:endParaRPr>
          </a:p>
        </p:txBody>
      </p:sp>
      <p:sp>
        <p:nvSpPr>
          <p:cNvPr id="131" name="Google Shape;131;g38b39bbdc2a_0_41"/>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g38b39bbdc2a_0_41"/>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g38b39bbdc2a_0_41"/>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134" name="Google Shape;134;g38b39bbdc2a_0_41"/>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135" name="Google Shape;135;g38b39bbdc2a_0_41"/>
          <p:cNvSpPr txBox="1"/>
          <p:nvPr/>
        </p:nvSpPr>
        <p:spPr>
          <a:xfrm>
            <a:off x="411475" y="795525"/>
            <a:ext cx="8321100" cy="30324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Copy to CPU can be selectively enabled per route prefix, MAC address, or neighbor entry.</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Copy to CPU can be triggered on any ingress flow matching a configured ACL rule.</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 higher priority ACL rule can override and cancel a copy action set by a lower priority rule or by a forwarding table entry.</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Each copy carries an user configured value copy reason(up to 8) in the packet metadata.</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The CPU reason also determines which of the 4 CPU queues receives the copy (SKYSIM-230)</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Copy arbitration priority order (highest to lowest): drop reason mirror (P1) &gt; copytoCPU (P2) &gt; sFlow (P3) &gt; regular mirror (P4).</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Only one copy per packet is dispatched; when copy to CPU wins arbitration, sFlow and mirror copies for that packet are suppressed and this information is encoded in the metadata.</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Copied packet can optionally carry a 32B ingress meta-data header prepended to the packet, providing source port, VLAN, L3 type, and drop status to the CPU.</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No rate limiting: every matching packet generates a copy unconditionally</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0"/>
        <p:cNvGrpSpPr/>
        <p:nvPr/>
      </p:nvGrpSpPr>
      <p:grpSpPr>
        <a:xfrm>
          <a:off x="0" y="0"/>
          <a:ext cx="0" cy="0"/>
          <a:chOff x="0" y="0"/>
          <a:chExt cx="0" cy="0"/>
        </a:xfrm>
      </p:grpSpPr>
      <p:sp>
        <p:nvSpPr>
          <p:cNvPr id="141" name="Google Shape;141;g38b39bbdc2a_0_51"/>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Copy to CPU Capacity</a:t>
            </a:r>
            <a:endParaRPr sz="3000" b="0" i="0" u="none" strike="noStrike" cap="none">
              <a:solidFill>
                <a:schemeClr val="dk1"/>
              </a:solidFill>
              <a:latin typeface="Calibri"/>
              <a:ea typeface="Calibri"/>
              <a:cs typeface="Calibri"/>
              <a:sym typeface="Calibri"/>
            </a:endParaRPr>
          </a:p>
        </p:txBody>
      </p:sp>
      <p:sp>
        <p:nvSpPr>
          <p:cNvPr id="142" name="Google Shape;142;g38b39bbdc2a_0_51"/>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g38b39bbdc2a_0_51"/>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g38b39bbdc2a_0_51"/>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145" name="Google Shape;145;g38b39bbdc2a_0_51"/>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146" name="Google Shape;146;g38b39bbdc2a_0_51"/>
          <p:cNvSpPr txBox="1"/>
          <p:nvPr/>
        </p:nvSpPr>
        <p:spPr>
          <a:xfrm>
            <a:off x="411475" y="795525"/>
            <a:ext cx="8321100" cy="19260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Distinct copy configurable copy reasons = 8.</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Copy CPU queue range is one out of 4 queues (OQ 4–7).</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Copy packet size delivered to CPU = 128 bytes maximum; packets shorter than 128 bytes are delivered in full without padding. (function </a:t>
            </a:r>
            <a:r>
              <a:rPr lang="en-US" sz="1250" b="0" i="1" u="none" strike="noStrike" cap="none">
                <a:solidFill>
                  <a:schemeClr val="dk1"/>
                </a:solidFill>
                <a:latin typeface="Arial"/>
                <a:ea typeface="Arial"/>
                <a:cs typeface="Arial"/>
                <a:sym typeface="Arial"/>
              </a:rPr>
              <a:t>trimPayload</a:t>
            </a:r>
            <a:r>
              <a:rPr lang="en-US" sz="1250" b="0" i="0" u="none" strike="noStrike" cap="none">
                <a:solidFill>
                  <a:schemeClr val="dk1"/>
                </a:solidFill>
                <a:latin typeface="Arial"/>
                <a:ea typeface="Arial"/>
                <a:cs typeface="Arial"/>
                <a:sym typeface="Arial"/>
              </a:rPr>
              <a:t>(128))</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Max distinct copy trigger groups via forwarding entries = 48 (8 groups per forwarding table × 6 tables); entries sharing a group share the same identity tag.</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Max ACL rules with copy action = 32 (16 per priority tier × 2 tiers); shared with all other ACL actions on those entries.</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1"/>
        <p:cNvGrpSpPr/>
        <p:nvPr/>
      </p:nvGrpSpPr>
      <p:grpSpPr>
        <a:xfrm>
          <a:off x="0" y="0"/>
          <a:ext cx="0" cy="0"/>
          <a:chOff x="0" y="0"/>
          <a:chExt cx="0" cy="0"/>
        </a:xfrm>
      </p:grpSpPr>
      <p:sp>
        <p:nvSpPr>
          <p:cNvPr id="152" name="Google Shape;152;g38b39bbdc2a_0_61"/>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Copy to CPU Constraints</a:t>
            </a:r>
            <a:endParaRPr sz="3000" b="0" i="0" u="none" strike="noStrike" cap="none">
              <a:solidFill>
                <a:schemeClr val="dk1"/>
              </a:solidFill>
              <a:latin typeface="Calibri"/>
              <a:ea typeface="Calibri"/>
              <a:cs typeface="Calibri"/>
              <a:sym typeface="Calibri"/>
            </a:endParaRPr>
          </a:p>
        </p:txBody>
      </p:sp>
      <p:sp>
        <p:nvSpPr>
          <p:cNvPr id="153" name="Google Shape;153;g38b39bbdc2a_0_61"/>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g38b39bbdc2a_0_61"/>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g38b39bbdc2a_0_61"/>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156" name="Google Shape;156;g38b39bbdc2a_0_61"/>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157" name="Google Shape;157;g38b39bbdc2a_0_61"/>
          <p:cNvSpPr txBox="1"/>
          <p:nvPr/>
        </p:nvSpPr>
        <p:spPr>
          <a:xfrm>
            <a:off x="411475" y="795525"/>
            <a:ext cx="8321100" cy="21471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Copy packet max size is fixed at 128 bytes; full packet delivery or different truncate size not supported.</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Only one copy per packet regardless of how many triggers match; when copy to CPU wins, sFlow and mirror copies for that packet are </a:t>
            </a:r>
            <a:r>
              <a:rPr lang="en-US" sz="1250">
                <a:solidFill>
                  <a:schemeClr val="dk1"/>
                </a:solidFill>
              </a:rPr>
              <a:t>suppressed</a:t>
            </a:r>
            <a:r>
              <a:rPr lang="en-US" sz="1250" b="0" i="0" u="none" strike="noStrike" cap="none">
                <a:solidFill>
                  <a:schemeClr val="dk1"/>
                </a:solidFill>
                <a:latin typeface="Arial"/>
                <a:ea typeface="Arial"/>
                <a:cs typeface="Arial"/>
                <a:sym typeface="Arial"/>
              </a:rPr>
              <a:t>.</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 packet triggering both a drop reason mirror and copy to CPU always delivers the drop mirror copy. (copy to CPU is suppressed)</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CPU queue selection per reason code is not yet functional in the model; all copies land on the same queue regardless of tag (SKYSIM-230).</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Copy to CPU cannot be triggered based on egress conditions</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timestamp is zero in copy metadata (SKYSIM-208).</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2"/>
        <p:cNvGrpSpPr/>
        <p:nvPr/>
      </p:nvGrpSpPr>
      <p:grpSpPr>
        <a:xfrm>
          <a:off x="0" y="0"/>
          <a:ext cx="0" cy="0"/>
          <a:chOff x="0" y="0"/>
          <a:chExt cx="0" cy="0"/>
        </a:xfrm>
      </p:grpSpPr>
      <p:sp>
        <p:nvSpPr>
          <p:cNvPr id="163" name="Google Shape;163;g38b39bbdc2a_0_79"/>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Trap to CPU Capability</a:t>
            </a:r>
            <a:endParaRPr sz="3000" b="0" i="0" u="none" strike="noStrike" cap="none">
              <a:solidFill>
                <a:schemeClr val="dk1"/>
              </a:solidFill>
              <a:latin typeface="Calibri"/>
              <a:ea typeface="Calibri"/>
              <a:cs typeface="Calibri"/>
              <a:sym typeface="Calibri"/>
            </a:endParaRPr>
          </a:p>
        </p:txBody>
      </p:sp>
      <p:sp>
        <p:nvSpPr>
          <p:cNvPr id="164" name="Google Shape;164;g38b39bbdc2a_0_79"/>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38b39bbdc2a_0_79"/>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g38b39bbdc2a_0_79"/>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167" name="Google Shape;167;g38b39bbdc2a_0_79"/>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168" name="Google Shape;168;g38b39bbdc2a_0_79"/>
          <p:cNvSpPr txBox="1"/>
          <p:nvPr/>
        </p:nvSpPr>
        <p:spPr>
          <a:xfrm>
            <a:off x="411475" y="795525"/>
            <a:ext cx="8321100" cy="39174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The matched packet is not forwarded; the full original packet is delivered entirely to CPU with no truncation.</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Any route prefix, MAC address, or neighbor entry can individually be designated to trap matching packets to CPU, each with its own source tag.</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 group of routes sharing a common nexthop can all be trapped with a single designation; changing the group's trap setting takes effect for all routes in the group simultaneously.</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An ACL rule can override the forwarding decision and redirect a matching packet to CPU, regardless of what the forwarding table resolves to.</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Each trapped packet carries a 4-bit trap reason in the forwarding metadata delivered alongside the full original packet</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Each trap reason is independently mapped to one of 4 CPU queue priorities, overriding any normal QoS classification for trapped packets.</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Trap uses dedicated CPU queues (OQ 0–3), completely separate from copy to CPU queues (OQ 4–7).</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Trap and copy to CPU are independent delivery paths; both can fire simultaneously for the same packet, producing two independent deliveries to the CPU.</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Trapped packets can optionally carry a 32B ingress metadata header providing source port, ingress VLAN, and pipeline state to the CPU.</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No rate limiting: every packet matching a trap designation is delivered unconditionally</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3"/>
        <p:cNvGrpSpPr/>
        <p:nvPr/>
      </p:nvGrpSpPr>
      <p:grpSpPr>
        <a:xfrm>
          <a:off x="0" y="0"/>
          <a:ext cx="0" cy="0"/>
          <a:chOff x="0" y="0"/>
          <a:chExt cx="0" cy="0"/>
        </a:xfrm>
      </p:grpSpPr>
      <p:sp>
        <p:nvSpPr>
          <p:cNvPr id="174" name="Google Shape;174;g38b39bbdc2a_0_89"/>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Trap to CPU Capacity</a:t>
            </a:r>
            <a:endParaRPr sz="3000" b="0" i="0" u="none" strike="noStrike" cap="none">
              <a:solidFill>
                <a:schemeClr val="dk1"/>
              </a:solidFill>
              <a:latin typeface="Calibri"/>
              <a:ea typeface="Calibri"/>
              <a:cs typeface="Calibri"/>
              <a:sym typeface="Calibri"/>
            </a:endParaRPr>
          </a:p>
        </p:txBody>
      </p:sp>
      <p:sp>
        <p:nvSpPr>
          <p:cNvPr id="175" name="Google Shape;175;g38b39bbdc2a_0_89"/>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g38b39bbdc2a_0_89"/>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g38b39bbdc2a_0_89"/>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178" name="Google Shape;178;g38b39bbdc2a_0_89"/>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179" name="Google Shape;179;g38b39bbdc2a_0_89"/>
          <p:cNvSpPr txBox="1"/>
          <p:nvPr/>
        </p:nvSpPr>
        <p:spPr>
          <a:xfrm>
            <a:off x="411475" y="795525"/>
            <a:ext cx="8321100" cy="14835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Distinct trap reason codes = 16.</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CPU queue priority assignments per trap reason = 16 (one per reason; 4 priority levels available).</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Trap CPU queue range = 4 queues (OQ 0–3).</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Any forwarding table entry can independently be a trap destination; trap capacity through forwarding entries is bounded only by forwarding table size.</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Max ACL rules with trap action = 32 (16 per ACL).</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4"/>
        <p:cNvGrpSpPr/>
        <p:nvPr/>
      </p:nvGrpSpPr>
      <p:grpSpPr>
        <a:xfrm>
          <a:off x="0" y="0"/>
          <a:ext cx="0" cy="0"/>
          <a:chOff x="0" y="0"/>
          <a:chExt cx="0" cy="0"/>
        </a:xfrm>
      </p:grpSpPr>
      <p:sp>
        <p:nvSpPr>
          <p:cNvPr id="185" name="Google Shape;185;g38b39bbdc2a_0_99"/>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Trap to CPU Constraints</a:t>
            </a:r>
            <a:endParaRPr sz="3000" b="0" i="0" u="none" strike="noStrike" cap="none">
              <a:solidFill>
                <a:schemeClr val="dk1"/>
              </a:solidFill>
              <a:latin typeface="Calibri"/>
              <a:ea typeface="Calibri"/>
              <a:cs typeface="Calibri"/>
              <a:sym typeface="Calibri"/>
            </a:endParaRPr>
          </a:p>
        </p:txBody>
      </p:sp>
      <p:sp>
        <p:nvSpPr>
          <p:cNvPr id="186" name="Google Shape;186;g38b39bbdc2a_0_99"/>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g38b39bbdc2a_0_99"/>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g38b39bbdc2a_0_99"/>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189" name="Google Shape;189;g38b39bbdc2a_0_99"/>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190" name="Google Shape;190;g38b39bbdc2a_0_99"/>
          <p:cNvSpPr txBox="1"/>
          <p:nvPr/>
        </p:nvSpPr>
        <p:spPr>
          <a:xfrm>
            <a:off x="411475" y="795525"/>
            <a:ext cx="8321100" cy="14835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Destination is CPU port only; Monitor port trap is not supported / not required.</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 packet subject to both a trap and an ingress policer drop or ACL deny action is silently discarded (SKYSIM-231).</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Trap cannot be applied unconditionally to all traffic on a port; it must be tied to a specific route, address, nexthop group, or ACL rule.</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Timestamp is zero  in trap packet metadata (SKYSIM-208).</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5"/>
        <p:cNvGrpSpPr/>
        <p:nvPr/>
      </p:nvGrpSpPr>
      <p:grpSpPr>
        <a:xfrm>
          <a:off x="0" y="0"/>
          <a:ext cx="0" cy="0"/>
          <a:chOff x="0" y="0"/>
          <a:chExt cx="0" cy="0"/>
        </a:xfrm>
      </p:grpSpPr>
      <p:sp>
        <p:nvSpPr>
          <p:cNvPr id="196" name="Google Shape;196;g3de2394d888_0_319"/>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Punt to CPU Capability</a:t>
            </a:r>
            <a:endParaRPr sz="3000" b="0" i="0" u="none" strike="noStrike" cap="none">
              <a:solidFill>
                <a:schemeClr val="dk1"/>
              </a:solidFill>
              <a:latin typeface="Calibri"/>
              <a:ea typeface="Calibri"/>
              <a:cs typeface="Calibri"/>
              <a:sym typeface="Calibri"/>
            </a:endParaRPr>
          </a:p>
        </p:txBody>
      </p:sp>
      <p:sp>
        <p:nvSpPr>
          <p:cNvPr id="197" name="Google Shape;197;g3de2394d888_0_319"/>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 name="Google Shape;198;g3de2394d888_0_319"/>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 name="Google Shape;199;g3de2394d888_0_319"/>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200" name="Google Shape;200;g3de2394d888_0_319"/>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201" name="Google Shape;201;g3de2394d888_0_319"/>
          <p:cNvSpPr txBox="1"/>
          <p:nvPr/>
        </p:nvSpPr>
        <p:spPr>
          <a:xfrm>
            <a:off x="411475" y="795525"/>
            <a:ext cx="8321100" cy="30324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Each punted packet carries an exception reason code so the CPU knows exactly what condition triggered the punt and take the corresponding action.</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TTL expiry :  packet TTL reaches 0 or 1 (configurable threshold); CPU generates ICMP TTL-exceeded reply.</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L3 MTU exceeded : packet size exceeds the egress interface MTU; CPU generates ICMP fragmentation-needed reply.</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IP header checksum error : corrupted IPv4 header detected at ingress; CPU handles the anomaly.</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Forwarding lookup miss : no matching route or FIB entry for the packet; CPU performs route resolution or generates ICMP unreachable.</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VLAN membership failure : packet's VLAN is not permitted on the egress port; CPU decides forwarding policy.</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Source port deny : ingress port is forbidden by the forwarding deny policy for this destination.</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Source-destination match : ingress and egress port resolve to the same interface; CPU handles hairpin detection.</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6"/>
        <p:cNvGrpSpPr/>
        <p:nvPr/>
      </p:nvGrpSpPr>
      <p:grpSpPr>
        <a:xfrm>
          <a:off x="0" y="0"/>
          <a:ext cx="0" cy="0"/>
          <a:chOff x="0" y="0"/>
          <a:chExt cx="0" cy="0"/>
        </a:xfrm>
      </p:grpSpPr>
      <p:sp>
        <p:nvSpPr>
          <p:cNvPr id="207" name="Google Shape;207;g3de2394d888_0_329"/>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Punt to CPU Capacity</a:t>
            </a:r>
            <a:endParaRPr sz="3000" b="0" i="0" u="none" strike="noStrike" cap="none">
              <a:solidFill>
                <a:schemeClr val="dk1"/>
              </a:solidFill>
              <a:latin typeface="Calibri"/>
              <a:ea typeface="Calibri"/>
              <a:cs typeface="Calibri"/>
              <a:sym typeface="Calibri"/>
            </a:endParaRPr>
          </a:p>
        </p:txBody>
      </p:sp>
      <p:sp>
        <p:nvSpPr>
          <p:cNvPr id="208" name="Google Shape;208;g3de2394d888_0_329"/>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g3de2394d888_0_329"/>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g3de2394d888_0_329"/>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211" name="Google Shape;211;g3de2394d888_0_329"/>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212" name="Google Shape;212;g3de2394d888_0_329"/>
          <p:cNvSpPr txBox="1"/>
          <p:nvPr/>
        </p:nvSpPr>
        <p:spPr>
          <a:xfrm>
            <a:off x="411475" y="795525"/>
            <a:ext cx="8321100" cy="17046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Hardware exception types detected = 7 (TTL, IP header checksum, L3 MTU, forwarding miss, VLAN membership, source port deny, source-destination match)</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Per-exception drop reason counters = up to 32 (exception reason code mapped to counter index via `drop_reason_map` table) - (8 per port)</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Exception reason code field = 4-bit (16 distinct reason values)</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CPU queue range intended for punted packets = 4 queues (OQ 0–3); infrastructure exists but unreachable for exceptions in the current model (SKYSIM-232)</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7"/>
        <p:cNvGrpSpPr/>
        <p:nvPr/>
      </p:nvGrpSpPr>
      <p:grpSpPr>
        <a:xfrm>
          <a:off x="0" y="0"/>
          <a:ext cx="0" cy="0"/>
          <a:chOff x="0" y="0"/>
          <a:chExt cx="0" cy="0"/>
        </a:xfrm>
      </p:grpSpPr>
      <p:sp>
        <p:nvSpPr>
          <p:cNvPr id="218" name="Google Shape;218;g3de2394d888_0_339"/>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Punt to CPU Constraints</a:t>
            </a:r>
            <a:endParaRPr sz="3000" b="0" i="0" u="none" strike="noStrike" cap="none">
              <a:solidFill>
                <a:schemeClr val="dk1"/>
              </a:solidFill>
              <a:latin typeface="Calibri"/>
              <a:ea typeface="Calibri"/>
              <a:cs typeface="Calibri"/>
              <a:sym typeface="Calibri"/>
            </a:endParaRPr>
          </a:p>
        </p:txBody>
      </p:sp>
      <p:sp>
        <p:nvSpPr>
          <p:cNvPr id="219" name="Google Shape;219;g3de2394d888_0_339"/>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g3de2394d888_0_339"/>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g3de2394d888_0_339"/>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222" name="Google Shape;222;g3de2394d888_0_339"/>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223" name="Google Shape;223;g3de2394d888_0_339"/>
          <p:cNvSpPr txBox="1"/>
          <p:nvPr/>
        </p:nvSpPr>
        <p:spPr>
          <a:xfrm>
            <a:off x="411475" y="795525"/>
            <a:ext cx="8321100" cy="30324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TTL expiry : exception detected and counter incremented; CPU never receives the packet; ICMP TTL-exceeded reply cannot be generated (SKYSIM-233).</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L3 MTU exceeded : exception detected and counter incremented; CPU never receives the packet; ICMP fragmentation-needed reply cannot be generated (SKYSIM-233).</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IP header checksum error : exception detected; CPU never receives the packet (SKYSIM-233).</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Forwarding lookup miss : exception detected; CPU never receives the packet (SKYSIM-233).</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VLAN membership failure : exception detected; CPU never receives the packet (SKYSIM-233).</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Source port deny : exception detected; CPU never receives the packet (SKYSIM-233).</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Source-destination match : exception detected; CPU never receives the packet (SKYSIM-233).</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`trap_qpri_map` queue priority table exists but is never consulted for hardware exceptions; it is only reachable via the FIB-based route punt path (`nhop_type=1`) (SKYSIM-233).</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These ideally needs separate tickets but consolidated all in to one (SKYSIM-233).</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Timestamp in punt metadata hardcoded to zero (SKYSIM-208)</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8"/>
        <p:cNvGrpSpPr/>
        <p:nvPr/>
      </p:nvGrpSpPr>
      <p:grpSpPr>
        <a:xfrm>
          <a:off x="0" y="0"/>
          <a:ext cx="0" cy="0"/>
          <a:chOff x="0" y="0"/>
          <a:chExt cx="0" cy="0"/>
        </a:xfrm>
      </p:grpSpPr>
      <p:sp>
        <p:nvSpPr>
          <p:cNvPr id="229" name="Google Shape;229;g38b39bbdc2a_0_114"/>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Inject from CPU Capability</a:t>
            </a:r>
            <a:endParaRPr sz="3000" b="0" i="0" u="none" strike="noStrike" cap="none">
              <a:solidFill>
                <a:schemeClr val="dk1"/>
              </a:solidFill>
              <a:latin typeface="Calibri"/>
              <a:ea typeface="Calibri"/>
              <a:cs typeface="Calibri"/>
              <a:sym typeface="Calibri"/>
            </a:endParaRPr>
          </a:p>
        </p:txBody>
      </p:sp>
      <p:sp>
        <p:nvSpPr>
          <p:cNvPr id="230" name="Google Shape;230;g38b39bbdc2a_0_114"/>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 name="Google Shape;231;g38b39bbdc2a_0_114"/>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 name="Google Shape;232;g38b39bbdc2a_0_114"/>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233" name="Google Shape;233;g38b39bbdc2a_0_114"/>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234" name="Google Shape;234;g38b39bbdc2a_0_114"/>
          <p:cNvSpPr txBox="1"/>
          <p:nvPr/>
        </p:nvSpPr>
        <p:spPr>
          <a:xfrm>
            <a:off x="411475" y="795525"/>
            <a:ext cx="8321100" cy="3696000"/>
          </a:xfrm>
          <a:prstGeom prst="rect">
            <a:avLst/>
          </a:prstGeom>
          <a:noFill/>
          <a:ln>
            <a:noFill/>
          </a:ln>
        </p:spPr>
        <p:txBody>
          <a:bodyPr spcFirstLastPara="1" wrap="square" lIns="91425" tIns="91425" rIns="91425" bIns="91425" anchor="t" anchorCtr="0">
            <a:spAutoFit/>
          </a:bodyPr>
          <a:lstStyle/>
          <a:p>
            <a:pPr marL="457200" lvl="0" indent="-307975" algn="l" rtl="0">
              <a:lnSpc>
                <a:spcPct val="115000"/>
              </a:lnSpc>
              <a:spcBef>
                <a:spcPts val="0"/>
              </a:spcBef>
              <a:spcAft>
                <a:spcPts val="0"/>
              </a:spcAft>
              <a:buClr>
                <a:schemeClr val="dk1"/>
              </a:buClr>
              <a:buSzPts val="1250"/>
              <a:buChar char="●"/>
            </a:pPr>
            <a:r>
              <a:rPr lang="en-US" sz="1250">
                <a:solidFill>
                  <a:schemeClr val="dk1"/>
                </a:solidFill>
              </a:rPr>
              <a:t>Inject from CPU enters the ingress pipeline via the CPU port; the injected packet carries a 16-byte cpu_port_hdr and a 16-byte ifp_metadata_fwd block prepended to the Ethernet frame.</a:t>
            </a:r>
            <a:endParaRPr sz="1250">
              <a:solidFill>
                <a:schemeClr val="dk1"/>
              </a:solidFill>
            </a:endParaRPr>
          </a:p>
          <a:p>
            <a:pPr marL="457200" lvl="0" indent="-307975" algn="l" rtl="0">
              <a:lnSpc>
                <a:spcPct val="115000"/>
              </a:lnSpc>
              <a:spcBef>
                <a:spcPts val="0"/>
              </a:spcBef>
              <a:spcAft>
                <a:spcPts val="0"/>
              </a:spcAft>
              <a:buClr>
                <a:schemeClr val="dk1"/>
              </a:buClr>
              <a:buSzPts val="1250"/>
              <a:buChar char="●"/>
            </a:pPr>
            <a:r>
              <a:rPr lang="en-US" sz="1250">
                <a:solidFill>
                  <a:schemeClr val="dk1"/>
                </a:solidFill>
              </a:rPr>
              <a:t>Two inject modes are supported via the cpu_port_hdr.ifp_bypass flag:</a:t>
            </a:r>
            <a:endParaRPr sz="1250">
              <a:solidFill>
                <a:schemeClr val="dk1"/>
              </a:solidFill>
            </a:endParaRPr>
          </a:p>
          <a:p>
            <a:pPr marL="914400" lvl="1" indent="-307975" algn="l" rtl="0">
              <a:lnSpc>
                <a:spcPct val="115000"/>
              </a:lnSpc>
              <a:spcBef>
                <a:spcPts val="0"/>
              </a:spcBef>
              <a:spcAft>
                <a:spcPts val="0"/>
              </a:spcAft>
              <a:buClr>
                <a:schemeClr val="dk1"/>
              </a:buClr>
              <a:buSzPts val="1250"/>
              <a:buChar char="○"/>
            </a:pPr>
            <a:r>
              <a:rPr lang="en-US" sz="1250">
                <a:solidFill>
                  <a:schemeClr val="dk1"/>
                </a:solidFill>
              </a:rPr>
              <a:t>Bypass mode (ifp_bypass=1): packet skips the entire IFP pipeline (parser, forwarding lookup, ACL, sFlow, mirror, copy merging). The pre-computed global_voq_id and pset from the cpu_port_hdr are used directly for VOQ assignment and egress routing.</a:t>
            </a:r>
            <a:endParaRPr sz="1250">
              <a:solidFill>
                <a:schemeClr val="dk1"/>
              </a:solidFill>
            </a:endParaRPr>
          </a:p>
          <a:p>
            <a:pPr marL="914400" lvl="1" indent="-307975" algn="l" rtl="0">
              <a:lnSpc>
                <a:spcPct val="115000"/>
              </a:lnSpc>
              <a:spcBef>
                <a:spcPts val="0"/>
              </a:spcBef>
              <a:spcAft>
                <a:spcPts val="0"/>
              </a:spcAft>
              <a:buClr>
                <a:schemeClr val="dk1"/>
              </a:buClr>
              <a:buSzPts val="1250"/>
              <a:buChar char="○"/>
            </a:pPr>
            <a:r>
              <a:rPr lang="en-US" sz="1250">
                <a:solidFill>
                  <a:schemeClr val="dk1"/>
                </a:solidFill>
              </a:rPr>
              <a:t>Non-bypass mode (ifp_bypass=0): packet enters the full IFP pipeline - parser, forwarding lookup, ACL, QoS, sFlow, mirror, and copy-to-CPU processing all apply to the injected packet.</a:t>
            </a:r>
            <a:endParaRPr sz="1250">
              <a:solidFill>
                <a:schemeClr val="dk1"/>
              </a:solidFill>
            </a:endParaRPr>
          </a:p>
          <a:p>
            <a:pPr marL="457200" lvl="0" indent="-307975" algn="l" rtl="0">
              <a:lnSpc>
                <a:spcPct val="115000"/>
              </a:lnSpc>
              <a:spcBef>
                <a:spcPts val="0"/>
              </a:spcBef>
              <a:spcAft>
                <a:spcPts val="0"/>
              </a:spcAft>
              <a:buClr>
                <a:schemeClr val="dk1"/>
              </a:buClr>
              <a:buSzPts val="1250"/>
              <a:buChar char="●"/>
            </a:pPr>
            <a:r>
              <a:rPr lang="en-US" sz="1250">
                <a:solidFill>
                  <a:schemeClr val="dk1"/>
                </a:solidFill>
              </a:rPr>
              <a:t>An optional EFP bypass is supported via the efp_bypass flag in ifp_metadata_fwd; when set, the egress pipeline (QoS remark, ECN marking, eACL, encapsulation) is skipped.</a:t>
            </a:r>
            <a:endParaRPr sz="1250">
              <a:solidFill>
                <a:schemeClr val="dk1"/>
              </a:solidFill>
            </a:endParaRPr>
          </a:p>
          <a:p>
            <a:pPr marL="457200" lvl="0" indent="-307975" algn="l" rtl="0">
              <a:lnSpc>
                <a:spcPct val="115000"/>
              </a:lnSpc>
              <a:spcBef>
                <a:spcPts val="0"/>
              </a:spcBef>
              <a:spcAft>
                <a:spcPts val="0"/>
              </a:spcAft>
              <a:buClr>
                <a:schemeClr val="dk1"/>
              </a:buClr>
              <a:buSzPts val="1250"/>
              <a:buChar char="●"/>
            </a:pPr>
            <a:r>
              <a:rPr lang="en-US" sz="1250">
                <a:solidFill>
                  <a:schemeClr val="dk1"/>
                </a:solidFill>
              </a:rPr>
              <a:t>Per-SN IFP bypass counters track bypass-injected packets: a 40-bit packet counter and a 48-bit byte counter.</a:t>
            </a:r>
            <a:endParaRPr sz="1250">
              <a:solidFill>
                <a:schemeClr val="dk1"/>
              </a:solidFill>
            </a:endParaRPr>
          </a:p>
          <a:p>
            <a:pPr marL="457200" lvl="0" indent="-307975" algn="l" rtl="0">
              <a:lnSpc>
                <a:spcPct val="115000"/>
              </a:lnSpc>
              <a:spcBef>
                <a:spcPts val="0"/>
              </a:spcBef>
              <a:spcAft>
                <a:spcPts val="0"/>
              </a:spcAft>
              <a:buClr>
                <a:schemeClr val="dk1"/>
              </a:buClr>
              <a:buSzPts val="1250"/>
              <a:buChar char="●"/>
            </a:pPr>
            <a:r>
              <a:rPr lang="en-US" sz="1250">
                <a:solidFill>
                  <a:schemeClr val="dk1"/>
                </a:solidFill>
              </a:rPr>
              <a:t>Per-SN EFP bypass counter: a 40-bit packet counter tracks EFP-bypassed packets.</a:t>
            </a:r>
            <a:endParaRPr sz="1250">
              <a:solidFill>
                <a:schemeClr val="dk1"/>
              </a:solidFill>
            </a:endParaRPr>
          </a:p>
          <a:p>
            <a:pPr marL="457200" lvl="0" indent="-307975" algn="l" rtl="0">
              <a:lnSpc>
                <a:spcPct val="115000"/>
              </a:lnSpc>
              <a:spcBef>
                <a:spcPts val="0"/>
              </a:spcBef>
              <a:spcAft>
                <a:spcPts val="0"/>
              </a:spcAft>
              <a:buClr>
                <a:schemeClr val="dk1"/>
              </a:buClr>
              <a:buSzPts val="1250"/>
              <a:buChar char="●"/>
            </a:pPr>
            <a:r>
              <a:rPr lang="en-US" sz="1250">
                <a:solidFill>
                  <a:schemeClr val="dk1"/>
                </a:solidFill>
              </a:rPr>
              <a:t>Both the CPU port and Monitor port can be used as independent inject sources.</a:t>
            </a:r>
            <a:endParaRPr sz="1250">
              <a:solidFill>
                <a:schemeClr val="dk1"/>
              </a:solidFill>
            </a:endParaRPr>
          </a:p>
          <a:p>
            <a:pPr marL="457200" lvl="0" indent="-307975" algn="l" rtl="0">
              <a:lnSpc>
                <a:spcPct val="115000"/>
              </a:lnSpc>
              <a:spcBef>
                <a:spcPts val="0"/>
              </a:spcBef>
              <a:spcAft>
                <a:spcPts val="0"/>
              </a:spcAft>
              <a:buClr>
                <a:schemeClr val="dk1"/>
              </a:buClr>
              <a:buSzPts val="1250"/>
              <a:buChar char="●"/>
            </a:pPr>
            <a:r>
              <a:rPr lang="en-US" sz="1250">
                <a:solidFill>
                  <a:schemeClr val="dk1"/>
                </a:solidFill>
              </a:rPr>
              <a:t>Injected packets in non-bypass mode are subject to all ingress pipeline processing identically to packets arriving on a front-panel port, including VLAN membership, ACL deny, forwarding lookup, sFlow sampling, mirroring, and copy-to-CPU actions.</a:t>
            </a:r>
            <a:endParaRPr sz="125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9"/>
        <p:cNvGrpSpPr/>
        <p:nvPr/>
      </p:nvGrpSpPr>
      <p:grpSpPr>
        <a:xfrm>
          <a:off x="0" y="0"/>
          <a:ext cx="0" cy="0"/>
          <a:chOff x="0" y="0"/>
          <a:chExt cx="0" cy="0"/>
        </a:xfrm>
      </p:grpSpPr>
      <p:sp>
        <p:nvSpPr>
          <p:cNvPr id="240" name="Google Shape;240;g3e08d834bd2_0_5"/>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51830"/>
              </a:buClr>
              <a:buSzPts val="3000"/>
              <a:buFont typeface="Calibri"/>
              <a:buNone/>
            </a:pPr>
            <a:r>
              <a:rPr lang="en-US" sz="3000">
                <a:solidFill>
                  <a:srgbClr val="051830"/>
                </a:solidFill>
                <a:latin typeface="Calibri"/>
                <a:ea typeface="Calibri"/>
                <a:cs typeface="Calibri"/>
                <a:sym typeface="Calibri"/>
              </a:rPr>
              <a:t>Inject from CPU Capacity</a:t>
            </a:r>
            <a:endParaRPr sz="3000" b="0" i="0" u="none" strike="noStrike" cap="none">
              <a:solidFill>
                <a:schemeClr val="dk1"/>
              </a:solidFill>
              <a:latin typeface="Calibri"/>
              <a:ea typeface="Calibri"/>
              <a:cs typeface="Calibri"/>
              <a:sym typeface="Calibri"/>
            </a:endParaRPr>
          </a:p>
        </p:txBody>
      </p:sp>
      <p:sp>
        <p:nvSpPr>
          <p:cNvPr id="241" name="Google Shape;241;g3e08d834bd2_0_5"/>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g3e08d834bd2_0_5"/>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 name="Google Shape;243;g3e08d834bd2_0_5"/>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244" name="Google Shape;244;g3e08d834bd2_0_5"/>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245" name="Google Shape;245;g3e08d834bd2_0_5"/>
          <p:cNvSpPr txBox="1"/>
          <p:nvPr/>
        </p:nvSpPr>
        <p:spPr>
          <a:xfrm>
            <a:off x="411475" y="795525"/>
            <a:ext cx="8321100" cy="3032400"/>
          </a:xfrm>
          <a:prstGeom prst="rect">
            <a:avLst/>
          </a:prstGeom>
          <a:noFill/>
          <a:ln>
            <a:noFill/>
          </a:ln>
        </p:spPr>
        <p:txBody>
          <a:bodyPr spcFirstLastPara="1" wrap="square" lIns="91425" tIns="91425" rIns="91425" bIns="91425" anchor="t" anchorCtr="0">
            <a:spAutoFit/>
          </a:bodyPr>
          <a:lstStyle/>
          <a:p>
            <a:pPr marL="457200" lvl="0" indent="-307975" algn="l" rtl="0">
              <a:lnSpc>
                <a:spcPct val="115000"/>
              </a:lnSpc>
              <a:spcBef>
                <a:spcPts val="0"/>
              </a:spcBef>
              <a:spcAft>
                <a:spcPts val="0"/>
              </a:spcAft>
              <a:buClr>
                <a:schemeClr val="dk1"/>
              </a:buClr>
              <a:buSzPts val="1250"/>
              <a:buChar char="●"/>
            </a:pPr>
            <a:r>
              <a:rPr lang="en-US" sz="1250">
                <a:solidFill>
                  <a:schemeClr val="dk1"/>
                </a:solidFill>
              </a:rPr>
              <a:t>cpu_port_hdr = 16 bytes (128 bits) with the following programmable fields:</a:t>
            </a:r>
            <a:endParaRPr sz="1250">
              <a:solidFill>
                <a:schemeClr val="dk1"/>
              </a:solidFill>
            </a:endParaRPr>
          </a:p>
          <a:p>
            <a:pPr marL="914400" lvl="1" indent="-307975" algn="l" rtl="0">
              <a:lnSpc>
                <a:spcPct val="115000"/>
              </a:lnSpc>
              <a:spcBef>
                <a:spcPts val="0"/>
              </a:spcBef>
              <a:spcAft>
                <a:spcPts val="0"/>
              </a:spcAft>
              <a:buClr>
                <a:schemeClr val="dk1"/>
              </a:buClr>
              <a:buSzPts val="1250"/>
              <a:buChar char="○"/>
            </a:pPr>
            <a:r>
              <a:rPr lang="en-US" sz="1250">
                <a:solidFill>
                  <a:schemeClr val="dk1"/>
                </a:solidFill>
              </a:rPr>
              <a:t>ifp_bypass (1 bit) - bypass/non-bypass mode select</a:t>
            </a:r>
            <a:endParaRPr sz="1250">
              <a:solidFill>
                <a:schemeClr val="dk1"/>
              </a:solidFill>
            </a:endParaRPr>
          </a:p>
          <a:p>
            <a:pPr marL="914400" lvl="1" indent="-307975" algn="l" rtl="0">
              <a:lnSpc>
                <a:spcPct val="115000"/>
              </a:lnSpc>
              <a:spcBef>
                <a:spcPts val="0"/>
              </a:spcBef>
              <a:spcAft>
                <a:spcPts val="0"/>
              </a:spcAft>
              <a:buClr>
                <a:schemeClr val="dk1"/>
              </a:buClr>
              <a:buSzPts val="1250"/>
              <a:buChar char="○"/>
            </a:pPr>
            <a:r>
              <a:rPr lang="en-US" sz="1250">
                <a:solidFill>
                  <a:schemeClr val="dk1"/>
                </a:solidFill>
              </a:rPr>
              <a:t>ifp_metadata_type (1 bit) - metadata format indicator</a:t>
            </a:r>
            <a:endParaRPr sz="1250">
              <a:solidFill>
                <a:schemeClr val="dk1"/>
              </a:solidFill>
            </a:endParaRPr>
          </a:p>
          <a:p>
            <a:pPr marL="914400" lvl="1" indent="-307975" algn="l" rtl="0">
              <a:lnSpc>
                <a:spcPct val="115000"/>
              </a:lnSpc>
              <a:spcBef>
                <a:spcPts val="0"/>
              </a:spcBef>
              <a:spcAft>
                <a:spcPts val="0"/>
              </a:spcAft>
              <a:buClr>
                <a:schemeClr val="dk1"/>
              </a:buClr>
              <a:buSzPts val="1250"/>
              <a:buChar char="○"/>
            </a:pPr>
            <a:r>
              <a:rPr lang="en-US" sz="1250">
                <a:solidFill>
                  <a:schemeClr val="dk1"/>
                </a:solidFill>
              </a:rPr>
              <a:t>slp_metadata (6 bits) - source logical port metadata</a:t>
            </a:r>
            <a:endParaRPr sz="1250">
              <a:solidFill>
                <a:schemeClr val="dk1"/>
              </a:solidFill>
            </a:endParaRPr>
          </a:p>
          <a:p>
            <a:pPr marL="914400" lvl="1" indent="-307975" algn="l" rtl="0">
              <a:lnSpc>
                <a:spcPct val="115000"/>
              </a:lnSpc>
              <a:spcBef>
                <a:spcPts val="0"/>
              </a:spcBef>
              <a:spcAft>
                <a:spcPts val="0"/>
              </a:spcAft>
              <a:buClr>
                <a:schemeClr val="dk1"/>
              </a:buClr>
              <a:buSzPts val="1250"/>
              <a:buChar char="○"/>
            </a:pPr>
            <a:r>
              <a:rPr lang="en-US" sz="1250">
                <a:solidFill>
                  <a:schemeClr val="dk1"/>
                </a:solidFill>
              </a:rPr>
              <a:t>global_voq_id (12 bits) - destination VOQ address, up to 4096 VOQs across all SNs</a:t>
            </a:r>
            <a:endParaRPr sz="1250">
              <a:solidFill>
                <a:schemeClr val="dk1"/>
              </a:solidFill>
            </a:endParaRPr>
          </a:p>
          <a:p>
            <a:pPr marL="914400" lvl="1" indent="-307975" algn="l" rtl="0">
              <a:lnSpc>
                <a:spcPct val="115000"/>
              </a:lnSpc>
              <a:spcBef>
                <a:spcPts val="0"/>
              </a:spcBef>
              <a:spcAft>
                <a:spcPts val="0"/>
              </a:spcAft>
              <a:buClr>
                <a:schemeClr val="dk1"/>
              </a:buClr>
              <a:buSzPts val="1250"/>
              <a:buChar char="○"/>
            </a:pPr>
            <a:r>
              <a:rPr lang="en-US" sz="1250">
                <a:solidFill>
                  <a:schemeClr val="dk1"/>
                </a:solidFill>
              </a:rPr>
              <a:t>pset (2 bits) - port set for egress queue selection (4 values)</a:t>
            </a:r>
            <a:endParaRPr sz="1250">
              <a:solidFill>
                <a:schemeClr val="dk1"/>
              </a:solidFill>
            </a:endParaRPr>
          </a:p>
          <a:p>
            <a:pPr marL="914400" lvl="1" indent="-307975" algn="l" rtl="0">
              <a:lnSpc>
                <a:spcPct val="115000"/>
              </a:lnSpc>
              <a:spcBef>
                <a:spcPts val="0"/>
              </a:spcBef>
              <a:spcAft>
                <a:spcPts val="0"/>
              </a:spcAft>
              <a:buClr>
                <a:schemeClr val="dk1"/>
              </a:buClr>
              <a:buSzPts val="1250"/>
              <a:buChar char="○"/>
            </a:pPr>
            <a:r>
              <a:rPr lang="en-US" sz="1250">
                <a:solidFill>
                  <a:schemeClr val="dk1"/>
                </a:solidFill>
              </a:rPr>
              <a:t>pkt_len (14 bits) - frame length, max 16383 bytes</a:t>
            </a:r>
            <a:endParaRPr sz="1250">
              <a:solidFill>
                <a:schemeClr val="dk1"/>
              </a:solidFill>
            </a:endParaRPr>
          </a:p>
          <a:p>
            <a:pPr marL="914400" lvl="1" indent="-307975" algn="l" rtl="0">
              <a:lnSpc>
                <a:spcPct val="115000"/>
              </a:lnSpc>
              <a:spcBef>
                <a:spcPts val="0"/>
              </a:spcBef>
              <a:spcAft>
                <a:spcPts val="0"/>
              </a:spcAft>
              <a:buClr>
                <a:schemeClr val="dk1"/>
              </a:buClr>
              <a:buSzPts val="1250"/>
              <a:buChar char="○"/>
            </a:pPr>
            <a:r>
              <a:rPr lang="en-US" sz="1250">
                <a:solidFill>
                  <a:schemeClr val="dk1"/>
                </a:solidFill>
              </a:rPr>
              <a:t>ssp (10 bits) - source system port</a:t>
            </a:r>
            <a:endParaRPr sz="1250">
              <a:solidFill>
                <a:schemeClr val="dk1"/>
              </a:solidFill>
            </a:endParaRPr>
          </a:p>
          <a:p>
            <a:pPr marL="914400" lvl="1" indent="-307975" algn="l" rtl="0">
              <a:lnSpc>
                <a:spcPct val="115000"/>
              </a:lnSpc>
              <a:spcBef>
                <a:spcPts val="0"/>
              </a:spcBef>
              <a:spcAft>
                <a:spcPts val="0"/>
              </a:spcAft>
              <a:buClr>
                <a:schemeClr val="dk1"/>
              </a:buClr>
              <a:buSzPts val="1250"/>
              <a:buChar char="○"/>
            </a:pPr>
            <a:r>
              <a:rPr lang="en-US" sz="1250">
                <a:solidFill>
                  <a:schemeClr val="dk1"/>
                </a:solidFill>
              </a:rPr>
              <a:t>cksum (16 bits) - header integrity checksum</a:t>
            </a:r>
            <a:endParaRPr sz="1250">
              <a:solidFill>
                <a:schemeClr val="dk1"/>
              </a:solidFill>
            </a:endParaRPr>
          </a:p>
          <a:p>
            <a:pPr marL="457200" lvl="0" indent="-307975" algn="l" rtl="0">
              <a:lnSpc>
                <a:spcPct val="115000"/>
              </a:lnSpc>
              <a:spcBef>
                <a:spcPts val="0"/>
              </a:spcBef>
              <a:spcAft>
                <a:spcPts val="0"/>
              </a:spcAft>
              <a:buClr>
                <a:schemeClr val="dk1"/>
              </a:buClr>
              <a:buSzPts val="1250"/>
              <a:buChar char="●"/>
            </a:pPr>
            <a:r>
              <a:rPr lang="en-US" sz="1250">
                <a:solidFill>
                  <a:schemeClr val="dk1"/>
                </a:solidFill>
              </a:rPr>
              <a:t>ifp_metadata_fwd = 16 bytes (128 bits) - forwarding metadata block prepended alongside cpu_port_hdr.</a:t>
            </a:r>
            <a:endParaRPr sz="1250">
              <a:solidFill>
                <a:schemeClr val="dk1"/>
              </a:solidFill>
            </a:endParaRPr>
          </a:p>
          <a:p>
            <a:pPr marL="457200" lvl="0" indent="-307975" algn="l" rtl="0">
              <a:lnSpc>
                <a:spcPct val="115000"/>
              </a:lnSpc>
              <a:spcBef>
                <a:spcPts val="0"/>
              </a:spcBef>
              <a:spcAft>
                <a:spcPts val="0"/>
              </a:spcAft>
              <a:buClr>
                <a:schemeClr val="dk1"/>
              </a:buClr>
              <a:buSzPts val="1250"/>
              <a:buChar char="●"/>
            </a:pPr>
            <a:r>
              <a:rPr lang="en-US" sz="1250">
                <a:solidFill>
                  <a:schemeClr val="dk1"/>
                </a:solidFill>
              </a:rPr>
              <a:t>IFP bypass packet counter = 40 bits per SN.</a:t>
            </a:r>
            <a:endParaRPr sz="1250">
              <a:solidFill>
                <a:schemeClr val="dk1"/>
              </a:solidFill>
            </a:endParaRPr>
          </a:p>
          <a:p>
            <a:pPr marL="457200" lvl="0" indent="-307975" algn="l" rtl="0">
              <a:lnSpc>
                <a:spcPct val="115000"/>
              </a:lnSpc>
              <a:spcBef>
                <a:spcPts val="0"/>
              </a:spcBef>
              <a:spcAft>
                <a:spcPts val="0"/>
              </a:spcAft>
              <a:buClr>
                <a:schemeClr val="dk1"/>
              </a:buClr>
              <a:buSzPts val="1250"/>
              <a:buChar char="●"/>
            </a:pPr>
            <a:r>
              <a:rPr lang="en-US" sz="1250">
                <a:solidFill>
                  <a:schemeClr val="dk1"/>
                </a:solidFill>
              </a:rPr>
              <a:t>IFP bypass byte counter = 48 bits per SN.</a:t>
            </a:r>
            <a:endParaRPr sz="1250">
              <a:solidFill>
                <a:schemeClr val="dk1"/>
              </a:solidFill>
            </a:endParaRPr>
          </a:p>
          <a:p>
            <a:pPr marL="457200" lvl="0" indent="-307975" algn="l" rtl="0">
              <a:lnSpc>
                <a:spcPct val="115000"/>
              </a:lnSpc>
              <a:spcBef>
                <a:spcPts val="0"/>
              </a:spcBef>
              <a:spcAft>
                <a:spcPts val="0"/>
              </a:spcAft>
              <a:buClr>
                <a:schemeClr val="dk1"/>
              </a:buClr>
              <a:buSzPts val="1250"/>
              <a:buChar char="●"/>
            </a:pPr>
            <a:r>
              <a:rPr lang="en-US" sz="1250">
                <a:solidFill>
                  <a:schemeClr val="dk1"/>
                </a:solidFill>
              </a:rPr>
              <a:t>EFP bypass packet counter = 40 bits per SN.</a:t>
            </a:r>
            <a:endParaRPr sz="125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0"/>
        <p:cNvGrpSpPr/>
        <p:nvPr/>
      </p:nvGrpSpPr>
      <p:grpSpPr>
        <a:xfrm>
          <a:off x="0" y="0"/>
          <a:ext cx="0" cy="0"/>
          <a:chOff x="0" y="0"/>
          <a:chExt cx="0" cy="0"/>
        </a:xfrm>
      </p:grpSpPr>
      <p:sp>
        <p:nvSpPr>
          <p:cNvPr id="251" name="Google Shape;251;g38b39bbdc2a_0_134"/>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Inject from CPU Constraints</a:t>
            </a:r>
            <a:endParaRPr sz="3000" b="0" i="0" u="none" strike="noStrike" cap="none">
              <a:solidFill>
                <a:schemeClr val="dk1"/>
              </a:solidFill>
              <a:latin typeface="Calibri"/>
              <a:ea typeface="Calibri"/>
              <a:cs typeface="Calibri"/>
              <a:sym typeface="Calibri"/>
            </a:endParaRPr>
          </a:p>
        </p:txBody>
      </p:sp>
      <p:sp>
        <p:nvSpPr>
          <p:cNvPr id="252" name="Google Shape;252;g38b39bbdc2a_0_134"/>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g38b39bbdc2a_0_134"/>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 name="Google Shape;254;g38b39bbdc2a_0_134"/>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255" name="Google Shape;255;g38b39bbdc2a_0_134"/>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256" name="Google Shape;256;g38b39bbdc2a_0_134"/>
          <p:cNvSpPr txBox="1"/>
          <p:nvPr/>
        </p:nvSpPr>
        <p:spPr>
          <a:xfrm>
            <a:off x="411475" y="795525"/>
            <a:ext cx="8321100" cy="413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50">
              <a:solidFill>
                <a:schemeClr val="dk1"/>
              </a:solidFill>
            </a:endParaRPr>
          </a:p>
          <a:p>
            <a:pPr marL="457200" lvl="0" indent="-307975" algn="l" rtl="0">
              <a:lnSpc>
                <a:spcPct val="115000"/>
              </a:lnSpc>
              <a:spcBef>
                <a:spcPts val="0"/>
              </a:spcBef>
              <a:spcAft>
                <a:spcPts val="0"/>
              </a:spcAft>
              <a:buClr>
                <a:schemeClr val="dk1"/>
              </a:buClr>
              <a:buSzPts val="1250"/>
              <a:buChar char="●"/>
            </a:pPr>
            <a:r>
              <a:rPr lang="en-US" sz="1250">
                <a:solidFill>
                  <a:schemeClr val="dk1"/>
                </a:solidFill>
              </a:rPr>
              <a:t>Bypass-mode inject has dedicated IFP and EFP bypass counters. Non-bypass inject packets are counted by the regular IFP/EFP flex counters only; no dedicated non-bypass inject counters exist.</a:t>
            </a:r>
            <a:endParaRPr sz="1250">
              <a:solidFill>
                <a:schemeClr val="dk1"/>
              </a:solidFill>
            </a:endParaRPr>
          </a:p>
          <a:p>
            <a:pPr marL="0" marR="0" lvl="0" indent="0" algn="l" rtl="0">
              <a:lnSpc>
                <a:spcPct val="115000"/>
              </a:lnSpc>
              <a:spcBef>
                <a:spcPts val="0"/>
              </a:spcBef>
              <a:spcAft>
                <a:spcPts val="0"/>
              </a:spcAft>
              <a:buNone/>
            </a:pPr>
            <a:endParaRPr sz="125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1"/>
        <p:cNvGrpSpPr/>
        <p:nvPr/>
      </p:nvGrpSpPr>
      <p:grpSpPr>
        <a:xfrm>
          <a:off x="0" y="0"/>
          <a:ext cx="0" cy="0"/>
          <a:chOff x="0" y="0"/>
          <a:chExt cx="0" cy="0"/>
        </a:xfrm>
      </p:grpSpPr>
      <p:sp>
        <p:nvSpPr>
          <p:cNvPr id="262" name="Google Shape;262;g3de2394d888_0_64"/>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DROP Capability</a:t>
            </a:r>
            <a:endParaRPr sz="3000" b="0" i="0" u="none" strike="noStrike" cap="none">
              <a:solidFill>
                <a:schemeClr val="dk1"/>
              </a:solidFill>
              <a:latin typeface="Calibri"/>
              <a:ea typeface="Calibri"/>
              <a:cs typeface="Calibri"/>
              <a:sym typeface="Calibri"/>
            </a:endParaRPr>
          </a:p>
        </p:txBody>
      </p:sp>
      <p:sp>
        <p:nvSpPr>
          <p:cNvPr id="263" name="Google Shape;263;g3de2394d888_0_64"/>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 name="Google Shape;264;g3de2394d888_0_64"/>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g3de2394d888_0_64"/>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266" name="Google Shape;266;g3de2394d888_0_64"/>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267" name="Google Shape;267;g3de2394d888_0_64"/>
          <p:cNvSpPr txBox="1"/>
          <p:nvPr/>
        </p:nvSpPr>
        <p:spPr>
          <a:xfrm>
            <a:off x="369175" y="795475"/>
            <a:ext cx="8321100" cy="23685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Drop based on ACL rule with a drop action on an ingress port or VLAN. </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Drop based on a FWD entry or shared result profile in any of the 3 FIB lookup types with a deny action.</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Set a trap-and-drop destination on the ACL rule or FWD entry; the full packet is delivered to the CPU.</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Attach a per-entry hardware counter to an ACL drop rule; tracks packet and byte counts (flex) per rule.</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Assign one of 5 user-defined policy drop codes (values 9–15) to any FWD deny or ACL drop entry.</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Two independent ACL tiers accept drop rules; tier-0 overrides tier-1 when both match.</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Ingress VLAN membership drop requires no configuration; the pipeline drops before ACL or FWD lookup when the check fails.</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Trigger points ACL match, FWD lookup resolving to a deny profile, or VLAN membership failure.</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Copy arbitration (mirror-on-drop, copy-to-CPU, sFlow) is evaluated before the drop is enforced.</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2"/>
        <p:cNvGrpSpPr/>
        <p:nvPr/>
      </p:nvGrpSpPr>
      <p:grpSpPr>
        <a:xfrm>
          <a:off x="0" y="0"/>
          <a:ext cx="0" cy="0"/>
          <a:chOff x="0" y="0"/>
          <a:chExt cx="0" cy="0"/>
        </a:xfrm>
      </p:grpSpPr>
      <p:sp>
        <p:nvSpPr>
          <p:cNvPr id="273" name="Google Shape;273;g3de2394d888_0_96"/>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DROP Capability Contd…</a:t>
            </a:r>
            <a:endParaRPr sz="3000" b="0" i="0" u="none" strike="noStrike" cap="none">
              <a:solidFill>
                <a:schemeClr val="dk1"/>
              </a:solidFill>
              <a:latin typeface="Calibri"/>
              <a:ea typeface="Calibri"/>
              <a:cs typeface="Calibri"/>
              <a:sym typeface="Calibri"/>
            </a:endParaRPr>
          </a:p>
        </p:txBody>
      </p:sp>
      <p:sp>
        <p:nvSpPr>
          <p:cNvPr id="274" name="Google Shape;274;g3de2394d888_0_96"/>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 name="Google Shape;275;g3de2394d888_0_96"/>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de2394d888_0_96"/>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277" name="Google Shape;277;g3de2394d888_0_96"/>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278" name="Google Shape;278;g3de2394d888_0_96"/>
          <p:cNvSpPr txBox="1"/>
          <p:nvPr/>
        </p:nvSpPr>
        <p:spPr>
          <a:xfrm>
            <a:off x="369175" y="795475"/>
            <a:ext cx="8321100" cy="21471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Allows a trap destination on a FWD entry for each exception class: TTL expired, IPv4 header error, L3 MTU exceeded, or forwarding miss.</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Trigger points:  TTL=0, bad IPv4 checksum, packet length exceeding configured MTU, and FIB miss each fire automatically.</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When an exception fires, the pipeline is designed to drop the packet and deliver the full untruncated original to the CPU or Monitor port with the trap reason code in the metadata.</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TTL check behavior is configurable per forwarding result profile: type 0 drops when TTL ≤ 1 (standard routing); type 1 drops when TTL = 0 only (for pass-through paths).</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IP header error exception fires on IPv4 checksum failure only. Not supported on other packet types.</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3"/>
        <p:cNvGrpSpPr/>
        <p:nvPr/>
      </p:nvGrpSpPr>
      <p:grpSpPr>
        <a:xfrm>
          <a:off x="0" y="0"/>
          <a:ext cx="0" cy="0"/>
          <a:chOff x="0" y="0"/>
          <a:chExt cx="0" cy="0"/>
        </a:xfrm>
      </p:grpSpPr>
      <p:sp>
        <p:nvSpPr>
          <p:cNvPr id="284" name="Google Shape;284;g3de2394d888_0_107"/>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DROP Capability Contd…</a:t>
            </a:r>
            <a:endParaRPr sz="3000" b="0" i="0" u="none" strike="noStrike" cap="none">
              <a:solidFill>
                <a:schemeClr val="dk1"/>
              </a:solidFill>
              <a:latin typeface="Calibri"/>
              <a:ea typeface="Calibri"/>
              <a:cs typeface="Calibri"/>
              <a:sym typeface="Calibri"/>
            </a:endParaRPr>
          </a:p>
        </p:txBody>
      </p:sp>
      <p:sp>
        <p:nvSpPr>
          <p:cNvPr id="285" name="Google Shape;285;g3de2394d888_0_107"/>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 name="Google Shape;286;g3de2394d888_0_107"/>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 name="Google Shape;287;g3de2394d888_0_107"/>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288" name="Google Shape;288;g3de2394d888_0_107"/>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289" name="Google Shape;289;g3de2394d888_0_107"/>
          <p:cNvSpPr txBox="1"/>
          <p:nvPr/>
        </p:nvSpPr>
        <p:spPr>
          <a:xfrm>
            <a:off x="369175" y="795475"/>
            <a:ext cx="8321100" cy="14835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Configure an eACL drop rule on an egress port; matched packets are discarded before exiting the port.</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Egress VLAN membership mismatch drops automatically; no explicit rule required.</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Trigger point : eACL match or egress VLAN membership failure.</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When triggered, the packet is discarded and egress mirror is suppressed.</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Ingress rate based policer drops and congestion based drops are not covered in this CCC</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Counters for drop reason and visibility are also not covered in this CCC</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4"/>
        <p:cNvGrpSpPr/>
        <p:nvPr/>
      </p:nvGrpSpPr>
      <p:grpSpPr>
        <a:xfrm>
          <a:off x="0" y="0"/>
          <a:ext cx="0" cy="0"/>
          <a:chOff x="0" y="0"/>
          <a:chExt cx="0" cy="0"/>
        </a:xfrm>
      </p:grpSpPr>
      <p:sp>
        <p:nvSpPr>
          <p:cNvPr id="295" name="Google Shape;295;g3de2394d888_0_74"/>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DROP Capacity</a:t>
            </a:r>
            <a:endParaRPr sz="3000" b="0" i="0" u="none" strike="noStrike" cap="none">
              <a:solidFill>
                <a:schemeClr val="dk1"/>
              </a:solidFill>
              <a:latin typeface="Calibri"/>
              <a:ea typeface="Calibri"/>
              <a:cs typeface="Calibri"/>
              <a:sym typeface="Calibri"/>
            </a:endParaRPr>
          </a:p>
        </p:txBody>
      </p:sp>
      <p:sp>
        <p:nvSpPr>
          <p:cNvPr id="296" name="Google Shape;296;g3de2394d888_0_74"/>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 name="Google Shape;297;g3de2394d888_0_74"/>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g3de2394d888_0_74"/>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299" name="Google Shape;299;g3de2394d888_0_74"/>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300" name="Google Shape;300;g3de2394d888_0_74"/>
          <p:cNvSpPr txBox="1"/>
          <p:nvPr/>
        </p:nvSpPr>
        <p:spPr>
          <a:xfrm>
            <a:off x="411475" y="795525"/>
            <a:ext cx="8321100" cy="12621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iACL entries per tier = 16 (tier 0 and tier 1 independently)</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Forwarding result profiles per FIB table = 8; 6 FIB tables supported</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User-assigned policy drop reason codes = 7 (values 9–15 in the 4-bit drop reason field)</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Exception classes supported = 4: TTL expired, IPv4 header error, L3 MTU exceeded, forwarding miss</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Trap reason codes = 16 effective (4-bit field, values 0–15; one code per exception class)</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5"/>
        <p:cNvGrpSpPr/>
        <p:nvPr/>
      </p:nvGrpSpPr>
      <p:grpSpPr>
        <a:xfrm>
          <a:off x="0" y="0"/>
          <a:ext cx="0" cy="0"/>
          <a:chOff x="0" y="0"/>
          <a:chExt cx="0" cy="0"/>
        </a:xfrm>
      </p:grpSpPr>
      <p:sp>
        <p:nvSpPr>
          <p:cNvPr id="306" name="Google Shape;306;g3de2394d888_0_84"/>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DROP Constraints</a:t>
            </a:r>
            <a:endParaRPr sz="3000" b="0" i="0" u="none" strike="noStrike" cap="none">
              <a:solidFill>
                <a:schemeClr val="dk1"/>
              </a:solidFill>
              <a:latin typeface="Calibri"/>
              <a:ea typeface="Calibri"/>
              <a:cs typeface="Calibri"/>
              <a:sym typeface="Calibri"/>
            </a:endParaRPr>
          </a:p>
        </p:txBody>
      </p:sp>
      <p:sp>
        <p:nvSpPr>
          <p:cNvPr id="307" name="Google Shape;307;g3de2394d888_0_84"/>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g3de2394d888_0_84"/>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g3de2394d888_0_84"/>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310" name="Google Shape;310;g3de2394d888_0_84"/>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311" name="Google Shape;311;g3de2394d888_0_84"/>
          <p:cNvSpPr txBox="1"/>
          <p:nvPr/>
        </p:nvSpPr>
        <p:spPr>
          <a:xfrm>
            <a:off x="411475" y="795525"/>
            <a:ext cx="8321100" cy="1926000"/>
          </a:xfrm>
          <a:prstGeom prst="rect">
            <a:avLst/>
          </a:prstGeom>
          <a:noFill/>
          <a:ln>
            <a:noFill/>
          </a:ln>
        </p:spPr>
        <p:txBody>
          <a:bodyPr spcFirstLastPara="1" wrap="square" lIns="91425" tIns="91425" rIns="91425" bIns="91425" anchor="t" anchorCtr="0">
            <a:spAutoFit/>
          </a:bodyPr>
          <a:lstStyle/>
          <a:p>
            <a:pPr marL="457200" marR="0" lvl="0" indent="-307975" algn="l" rtl="0">
              <a:lnSpc>
                <a:spcPct val="115000"/>
              </a:lnSpc>
              <a:spcBef>
                <a:spcPts val="120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Port admin state drop is not implemented / not required.</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IPSG, URPF, Storm control is not implemented / not required.</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Port isolation group drop is not implemented / not required.</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FDB entry blackhole (drop by MAC address) is not implemented.</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Neighbor entry drop is not implemented.</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Forwarding profile Copy-to-CPU cancel is broken; any non-zero cancel field value enables a copy.</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No CPU copy notification or counters on egress drop.</a:t>
            </a:r>
            <a:endParaRPr sz="1250" b="0" i="0" u="none" strike="noStrike" cap="none">
              <a:solidFill>
                <a:schemeClr val="dk1"/>
              </a:solidFill>
              <a:latin typeface="Arial"/>
              <a:ea typeface="Arial"/>
              <a:cs typeface="Arial"/>
              <a:sym typeface="Arial"/>
            </a:endParaRPr>
          </a:p>
          <a:p>
            <a:pPr marL="457200" marR="0" lvl="0" indent="-307975" algn="l" rtl="0">
              <a:lnSpc>
                <a:spcPct val="115000"/>
              </a:lnSpc>
              <a:spcBef>
                <a:spcPts val="0"/>
              </a:spcBef>
              <a:spcAft>
                <a:spcPts val="0"/>
              </a:spcAft>
              <a:buClr>
                <a:schemeClr val="dk1"/>
              </a:buClr>
              <a:buSzPts val="1250"/>
              <a:buFont typeface="Arial"/>
              <a:buChar char="●"/>
            </a:pPr>
            <a:r>
              <a:rPr lang="en-US" sz="1250" b="0" i="0" u="none" strike="noStrike" cap="none">
                <a:solidFill>
                  <a:schemeClr val="dk1"/>
                </a:solidFill>
                <a:latin typeface="Arial"/>
                <a:ea typeface="Arial"/>
                <a:cs typeface="Arial"/>
                <a:sym typeface="Arial"/>
              </a:rPr>
              <a:t>Egress VLAN membership drop reason is not tracked by the drop reason counter (SKYSIM-241).</a:t>
            </a:r>
            <a:endParaRPr sz="1250" b="0" i="0" u="none" strike="noStrike" cap="non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6"/>
        <p:cNvGrpSpPr/>
        <p:nvPr/>
      </p:nvGrpSpPr>
      <p:grpSpPr>
        <a:xfrm>
          <a:off x="0" y="0"/>
          <a:ext cx="0" cy="0"/>
          <a:chOff x="0" y="0"/>
          <a:chExt cx="0" cy="0"/>
        </a:xfrm>
      </p:grpSpPr>
      <p:sp>
        <p:nvSpPr>
          <p:cNvPr id="317" name="Google Shape;317;g3d57177b310_0_2"/>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List of Jira</a:t>
            </a:r>
            <a:endParaRPr sz="3000" b="0" i="0" u="none" strike="noStrike" cap="none">
              <a:solidFill>
                <a:schemeClr val="dk1"/>
              </a:solidFill>
              <a:latin typeface="Calibri"/>
              <a:ea typeface="Calibri"/>
              <a:cs typeface="Calibri"/>
              <a:sym typeface="Calibri"/>
            </a:endParaRPr>
          </a:p>
        </p:txBody>
      </p:sp>
      <p:sp>
        <p:nvSpPr>
          <p:cNvPr id="318" name="Google Shape;318;g3d57177b310_0_2"/>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 name="Google Shape;319;g3d57177b310_0_2"/>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g3d57177b310_0_2"/>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321" name="Google Shape;321;g3d57177b310_0_2"/>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322" name="Google Shape;322;g3d57177b310_0_2"/>
          <p:cNvSpPr txBox="1"/>
          <p:nvPr/>
        </p:nvSpPr>
        <p:spPr>
          <a:xfrm>
            <a:off x="411450" y="795475"/>
            <a:ext cx="8321100" cy="3805500"/>
          </a:xfrm>
          <a:prstGeom prst="rect">
            <a:avLst/>
          </a:prstGeom>
          <a:noFill/>
          <a:ln>
            <a:noFill/>
          </a:ln>
        </p:spPr>
        <p:txBody>
          <a:bodyPr spcFirstLastPara="1" wrap="square" lIns="91425" tIns="91425" rIns="91425" bIns="91425" anchor="t" anchorCtr="0">
            <a:spAutoFit/>
          </a:bodyPr>
          <a:lstStyle/>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3"/>
              </a:rPr>
              <a:t>https://bugatti-asic.atlassian.net/browse/SKYSIM-208</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4"/>
              </a:rPr>
              <a:t>https://bugatti-asic.atlassian.net/browse/SKYSIM-209</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5"/>
              </a:rPr>
              <a:t>https://bugatti-asic.atlassian.net/browse/SKYSIM-210</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6"/>
              </a:rPr>
              <a:t>https://bugatti-asic.atlassian.net/browse/SKYSIM-211</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7"/>
              </a:rPr>
              <a:t>https://bugatti-asic.atlassian.net/browse/SKYSIM-212</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8"/>
              </a:rPr>
              <a:t>https://bugatti-asic.atlassian.net/browse/SKYSIM-213</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9"/>
              </a:rPr>
              <a:t>https://bugatti-asic.atlassian.net/browse/SKYSIM-214</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10"/>
              </a:rPr>
              <a:t>https://bugatti-asic.atlassian.net/browse/SKYSIM-215</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11"/>
              </a:rPr>
              <a:t>https://bugatti-asic.atlassian.net/browse/SKYSIM-216</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12"/>
              </a:rPr>
              <a:t>https://bugatti-asic.atlassian.net/browse/SKYSIM-217</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13"/>
              </a:rPr>
              <a:t>https://bugatti-asic.atlassian.net/browse/SKYSIM-218</a:t>
            </a:r>
            <a:endParaRPr sz="1150" b="0" i="0" u="sng" strike="noStrike" cap="none">
              <a:solidFill>
                <a:schemeClr val="hlink"/>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1650"/>
              <a:buFont typeface="Arial"/>
              <a:buNone/>
            </a:pPr>
            <a:endParaRPr sz="1650" b="0" i="0" u="none" strike="noStrike" cap="non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7"/>
        <p:cNvGrpSpPr/>
        <p:nvPr/>
      </p:nvGrpSpPr>
      <p:grpSpPr>
        <a:xfrm>
          <a:off x="0" y="0"/>
          <a:ext cx="0" cy="0"/>
          <a:chOff x="0" y="0"/>
          <a:chExt cx="0" cy="0"/>
        </a:xfrm>
      </p:grpSpPr>
      <p:sp>
        <p:nvSpPr>
          <p:cNvPr id="328" name="Google Shape;328;g3d57177b310_0_12"/>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List of Jira Contd…</a:t>
            </a:r>
            <a:endParaRPr sz="3000" b="0" i="0" u="none" strike="noStrike" cap="none">
              <a:solidFill>
                <a:schemeClr val="dk1"/>
              </a:solidFill>
              <a:latin typeface="Calibri"/>
              <a:ea typeface="Calibri"/>
              <a:cs typeface="Calibri"/>
              <a:sym typeface="Calibri"/>
            </a:endParaRPr>
          </a:p>
        </p:txBody>
      </p:sp>
      <p:sp>
        <p:nvSpPr>
          <p:cNvPr id="329" name="Google Shape;329;g3d57177b310_0_12"/>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 name="Google Shape;330;g3d57177b310_0_12"/>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 name="Google Shape;331;g3d57177b310_0_12"/>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332" name="Google Shape;332;g3d57177b310_0_12"/>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333" name="Google Shape;333;g3d57177b310_0_12"/>
          <p:cNvSpPr txBox="1"/>
          <p:nvPr/>
        </p:nvSpPr>
        <p:spPr>
          <a:xfrm>
            <a:off x="411475" y="795525"/>
            <a:ext cx="8321100" cy="3359400"/>
          </a:xfrm>
          <a:prstGeom prst="rect">
            <a:avLst/>
          </a:prstGeom>
          <a:noFill/>
          <a:ln>
            <a:noFill/>
          </a:ln>
        </p:spPr>
        <p:txBody>
          <a:bodyPr spcFirstLastPara="1" wrap="square" lIns="91425" tIns="91425" rIns="91425" bIns="91425" anchor="t" anchorCtr="0">
            <a:spAutoFit/>
          </a:bodyPr>
          <a:lstStyle/>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3"/>
              </a:rPr>
              <a:t>https://bugatti-asic.atlassian.net/browse/SKYSIM-219</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4"/>
              </a:rPr>
              <a:t>https://bugatti-asic.atlassian.net/browse/SKYSIM-220</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5"/>
              </a:rPr>
              <a:t>https://bugatti-asic.atlassian.net/browse/SKYSIM-221</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6"/>
              </a:rPr>
              <a:t>https://bugatti-asic.atlassian.net/browse/SKYSIM-222</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7"/>
              </a:rPr>
              <a:t>https://bugatti-asic.atlassian.net/browse/SKYSIM-174</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8"/>
              </a:rPr>
              <a:t>https://bugatti-asic.atlassian.net/browse/SKYSIM-175</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9"/>
              </a:rPr>
              <a:t>https://bugatti-asic.atlassian.net/browse/SKYSIM-176</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10"/>
              </a:rPr>
              <a:t>https://bugatti-asic.atlassian.net/browse/SKYSIM-177</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11"/>
              </a:rPr>
              <a:t>https://bugatti-asic.atlassian.net/browse/SKYSIM-179</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12"/>
              </a:rPr>
              <a:t>https://bugatti-asic.atlassian.net/browse/SKYSIM-180</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13"/>
              </a:rPr>
              <a:t>https://bugatti-asic.atlassian.net/browse/SKYSIM-223</a:t>
            </a:r>
            <a:endParaRPr sz="1650" b="0" i="0" u="none" strike="noStrike" cap="none">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8"/>
        <p:cNvGrpSpPr/>
        <p:nvPr/>
      </p:nvGrpSpPr>
      <p:grpSpPr>
        <a:xfrm>
          <a:off x="0" y="0"/>
          <a:ext cx="0" cy="0"/>
          <a:chOff x="0" y="0"/>
          <a:chExt cx="0" cy="0"/>
        </a:xfrm>
      </p:grpSpPr>
      <p:sp>
        <p:nvSpPr>
          <p:cNvPr id="339" name="Google Shape;339;g3d57177b310_0_22"/>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List of Jira Contd…</a:t>
            </a:r>
            <a:endParaRPr sz="3000" b="0" i="0" u="none" strike="noStrike" cap="none">
              <a:solidFill>
                <a:schemeClr val="dk1"/>
              </a:solidFill>
              <a:latin typeface="Calibri"/>
              <a:ea typeface="Calibri"/>
              <a:cs typeface="Calibri"/>
              <a:sym typeface="Calibri"/>
            </a:endParaRPr>
          </a:p>
        </p:txBody>
      </p:sp>
      <p:sp>
        <p:nvSpPr>
          <p:cNvPr id="340" name="Google Shape;340;g3d57177b310_0_22"/>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g3d57177b310_0_22"/>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 name="Google Shape;342;g3d57177b310_0_22"/>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343" name="Google Shape;343;g3d57177b310_0_22"/>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344" name="Google Shape;344;g3d57177b310_0_22"/>
          <p:cNvSpPr txBox="1"/>
          <p:nvPr/>
        </p:nvSpPr>
        <p:spPr>
          <a:xfrm>
            <a:off x="411475" y="795525"/>
            <a:ext cx="8321100" cy="3359400"/>
          </a:xfrm>
          <a:prstGeom prst="rect">
            <a:avLst/>
          </a:prstGeom>
          <a:noFill/>
          <a:ln>
            <a:noFill/>
          </a:ln>
        </p:spPr>
        <p:txBody>
          <a:bodyPr spcFirstLastPara="1" wrap="square" lIns="91425" tIns="91425" rIns="91425" bIns="91425" anchor="t" anchorCtr="0">
            <a:spAutoFit/>
          </a:bodyPr>
          <a:lstStyle/>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3"/>
              </a:rPr>
              <a:t>https://bugatti-asic.atlassian.net/browse/SKYSIM-224</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4"/>
              </a:rPr>
              <a:t>https://bugatti-asic.atlassian.net/browse/SKYSIM-225</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5"/>
              </a:rPr>
              <a:t>https://bugatti-asic.atlassian.net/browse/SKYSIM-226</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6"/>
              </a:rPr>
              <a:t>https://bugatti-asic.atlassian.net/browse/SKYSIM-227</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7"/>
              </a:rPr>
              <a:t>https://bugatti-asic.atlassian.net/browse/SKYSIM-228</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8"/>
              </a:rPr>
              <a:t>https://bugatti-asic.atlassian.net/browse/SKYSIM-229</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9"/>
              </a:rPr>
              <a:t>https://bugatti-asic.atlassian.net/browse/SKYSIM-230</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10"/>
              </a:rPr>
              <a:t>https://bugatti-asic.atlassian.net/browse/SKYSIM-231</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11"/>
              </a:rPr>
              <a:t>https://bugatti-asic.atlassian.net/browse/SKYSIM-232</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12"/>
              </a:rPr>
              <a:t>https://bugatti-asic.atlassian.net/browse/SKYSIM-233</a:t>
            </a:r>
            <a:endParaRPr sz="1150" b="0" i="0" u="sng" strike="noStrike" cap="none">
              <a:solidFill>
                <a:schemeClr val="hlink"/>
              </a:solidFill>
              <a:latin typeface="Arial"/>
              <a:ea typeface="Arial"/>
              <a:cs typeface="Arial"/>
              <a:sym typeface="Arial"/>
            </a:endParaRPr>
          </a:p>
          <a:p>
            <a:pPr marL="457200" marR="0" lvl="0" indent="-333375" algn="l" rtl="0">
              <a:lnSpc>
                <a:spcPct val="115000"/>
              </a:lnSpc>
              <a:spcBef>
                <a:spcPts val="0"/>
              </a:spcBef>
              <a:spcAft>
                <a:spcPts val="0"/>
              </a:spcAft>
              <a:buClr>
                <a:schemeClr val="dk1"/>
              </a:buClr>
              <a:buSzPts val="1650"/>
              <a:buFont typeface="Arial"/>
              <a:buChar char="●"/>
            </a:pPr>
            <a:r>
              <a:rPr lang="en-US" sz="1150" b="0" i="0" u="sng" strike="noStrike" cap="none">
                <a:solidFill>
                  <a:schemeClr val="hlink"/>
                </a:solidFill>
                <a:latin typeface="Arial"/>
                <a:ea typeface="Arial"/>
                <a:cs typeface="Arial"/>
                <a:sym typeface="Arial"/>
                <a:hlinkClick r:id="rId13"/>
              </a:rPr>
              <a:t>https://bugatti-asic.atlassian.net/browse/SKYSIM-234</a:t>
            </a:r>
            <a:endParaRPr sz="1650" b="0" i="0" u="none" strike="noStrike" cap="none">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9"/>
        <p:cNvGrpSpPr/>
        <p:nvPr/>
      </p:nvGrpSpPr>
      <p:grpSpPr>
        <a:xfrm>
          <a:off x="0" y="0"/>
          <a:ext cx="0" cy="0"/>
          <a:chOff x="0" y="0"/>
          <a:chExt cx="0" cy="0"/>
        </a:xfrm>
      </p:grpSpPr>
      <p:sp>
        <p:nvSpPr>
          <p:cNvPr id="350" name="Google Shape;350;g3d57177b310_0_32"/>
          <p:cNvSpPr/>
          <p:nvPr/>
        </p:nvSpPr>
        <p:spPr>
          <a:xfrm>
            <a:off x="411480" y="201168"/>
            <a:ext cx="8321100" cy="59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1830"/>
              </a:buClr>
              <a:buSzPts val="3000"/>
              <a:buFont typeface="Calibri"/>
              <a:buNone/>
            </a:pPr>
            <a:r>
              <a:rPr lang="en-US" sz="3000" b="0" i="0" u="none" strike="noStrike" cap="none">
                <a:solidFill>
                  <a:srgbClr val="051830"/>
                </a:solidFill>
                <a:latin typeface="Calibri"/>
                <a:ea typeface="Calibri"/>
                <a:cs typeface="Calibri"/>
                <a:sym typeface="Calibri"/>
              </a:rPr>
              <a:t>List of Jira Contd</a:t>
            </a:r>
            <a:endParaRPr sz="3000" b="0" i="0" u="none" strike="noStrike" cap="none">
              <a:solidFill>
                <a:schemeClr val="dk1"/>
              </a:solidFill>
              <a:latin typeface="Calibri"/>
              <a:ea typeface="Calibri"/>
              <a:cs typeface="Calibri"/>
              <a:sym typeface="Calibri"/>
            </a:endParaRPr>
          </a:p>
        </p:txBody>
      </p:sp>
      <p:sp>
        <p:nvSpPr>
          <p:cNvPr id="351" name="Google Shape;351;g3d57177b310_0_32"/>
          <p:cNvSpPr/>
          <p:nvPr/>
        </p:nvSpPr>
        <p:spPr>
          <a:xfrm>
            <a:off x="0" y="4850892"/>
            <a:ext cx="9144000" cy="18300"/>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 name="Google Shape;352;g3d57177b310_0_32"/>
          <p:cNvSpPr/>
          <p:nvPr/>
        </p:nvSpPr>
        <p:spPr>
          <a:xfrm>
            <a:off x="0" y="4869180"/>
            <a:ext cx="9144000" cy="274200"/>
          </a:xfrm>
          <a:prstGeom prst="rect">
            <a:avLst/>
          </a:prstGeom>
          <a:solidFill>
            <a:srgbClr val="F4F6FA"/>
          </a:solidFill>
          <a:ln w="12700" cap="flat" cmpd="sng">
            <a:solidFill>
              <a:srgbClr val="F4F6F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 name="Google Shape;353;g3d57177b310_0_32"/>
          <p:cNvSpPr/>
          <p:nvPr/>
        </p:nvSpPr>
        <p:spPr>
          <a:xfrm>
            <a:off x="274320" y="4887468"/>
            <a:ext cx="7772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700"/>
              <a:buFont typeface="Calibri"/>
              <a:buNone/>
            </a:pPr>
            <a:r>
              <a:rPr lang="en-US" sz="700" b="0" i="0" u="none" strike="noStrike" cap="none">
                <a:solidFill>
                  <a:srgbClr val="888888"/>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354" name="Google Shape;354;g3d57177b310_0_32"/>
          <p:cNvSpPr/>
          <p:nvPr/>
        </p:nvSpPr>
        <p:spPr>
          <a:xfrm>
            <a:off x="7863840" y="4887468"/>
            <a:ext cx="1097400" cy="2013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333333"/>
                </a:solidFill>
                <a:latin typeface="Calibri"/>
                <a:ea typeface="Calibri"/>
                <a:cs typeface="Calibri"/>
                <a:sym typeface="Calibri"/>
              </a:rPr>
              <a:t>upscale </a:t>
            </a:r>
            <a:r>
              <a:rPr lang="en-US" sz="900" b="0" i="0" u="none" strike="noStrike" cap="none">
                <a:solidFill>
                  <a:srgbClr val="4F81BD"/>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
        <p:nvSpPr>
          <p:cNvPr id="355" name="Google Shape;355;g3d57177b310_0_32"/>
          <p:cNvSpPr txBox="1"/>
          <p:nvPr/>
        </p:nvSpPr>
        <p:spPr>
          <a:xfrm>
            <a:off x="411475" y="795525"/>
            <a:ext cx="8321100" cy="2932200"/>
          </a:xfrm>
          <a:prstGeom prst="rect">
            <a:avLst/>
          </a:prstGeom>
          <a:noFill/>
          <a:ln>
            <a:noFill/>
          </a:ln>
        </p:spPr>
        <p:txBody>
          <a:bodyPr spcFirstLastPara="1" wrap="square" lIns="91425" tIns="91425" rIns="91425" bIns="91425" anchor="t" anchorCtr="0">
            <a:spAutoFit/>
          </a:bodyPr>
          <a:lstStyle/>
          <a:p>
            <a:pPr marL="457200" marR="0" lvl="0" indent="-339725" algn="l" rtl="0">
              <a:lnSpc>
                <a:spcPct val="115000"/>
              </a:lnSpc>
              <a:spcBef>
                <a:spcPts val="0"/>
              </a:spcBef>
              <a:spcAft>
                <a:spcPts val="0"/>
              </a:spcAft>
              <a:buClr>
                <a:schemeClr val="dk1"/>
              </a:buClr>
              <a:buSzPts val="1750"/>
              <a:buFont typeface="Arial"/>
              <a:buChar char="●"/>
            </a:pPr>
            <a:r>
              <a:rPr lang="en-US" sz="1250" b="0" i="0" u="sng" strike="noStrike" cap="none">
                <a:solidFill>
                  <a:schemeClr val="hlink"/>
                </a:solidFill>
                <a:latin typeface="Arial"/>
                <a:ea typeface="Arial"/>
                <a:cs typeface="Arial"/>
                <a:sym typeface="Arial"/>
                <a:hlinkClick r:id="rId3"/>
              </a:rPr>
              <a:t>https://bugatti-asic.atlassian.net/browse/SKYSIM-235</a:t>
            </a:r>
            <a:endParaRPr sz="1250" b="0" i="0" u="sng" strike="noStrike" cap="none">
              <a:solidFill>
                <a:schemeClr val="hlink"/>
              </a:solidFill>
              <a:latin typeface="Arial"/>
              <a:ea typeface="Arial"/>
              <a:cs typeface="Arial"/>
              <a:sym typeface="Arial"/>
            </a:endParaRPr>
          </a:p>
          <a:p>
            <a:pPr marL="457200" marR="0" lvl="0" indent="-339725" algn="l" rtl="0">
              <a:lnSpc>
                <a:spcPct val="115000"/>
              </a:lnSpc>
              <a:spcBef>
                <a:spcPts val="0"/>
              </a:spcBef>
              <a:spcAft>
                <a:spcPts val="0"/>
              </a:spcAft>
              <a:buClr>
                <a:schemeClr val="dk1"/>
              </a:buClr>
              <a:buSzPts val="1750"/>
              <a:buFont typeface="Arial"/>
              <a:buChar char="●"/>
            </a:pPr>
            <a:r>
              <a:rPr lang="en-US" sz="1250" b="0" i="0" u="sng" strike="noStrike" cap="none">
                <a:solidFill>
                  <a:schemeClr val="hlink"/>
                </a:solidFill>
                <a:latin typeface="Arial"/>
                <a:ea typeface="Arial"/>
                <a:cs typeface="Arial"/>
                <a:sym typeface="Arial"/>
                <a:hlinkClick r:id="rId4"/>
              </a:rPr>
              <a:t>https://bugatti-asic.atlassian.net/browse/SKYSIM-236</a:t>
            </a:r>
            <a:endParaRPr sz="1250" b="0" i="0" u="sng" strike="noStrike" cap="none">
              <a:solidFill>
                <a:schemeClr val="hlink"/>
              </a:solidFill>
              <a:latin typeface="Arial"/>
              <a:ea typeface="Arial"/>
              <a:cs typeface="Arial"/>
              <a:sym typeface="Arial"/>
            </a:endParaRPr>
          </a:p>
          <a:p>
            <a:pPr marL="457200" marR="0" lvl="0" indent="-339725" algn="l" rtl="0">
              <a:lnSpc>
                <a:spcPct val="115000"/>
              </a:lnSpc>
              <a:spcBef>
                <a:spcPts val="0"/>
              </a:spcBef>
              <a:spcAft>
                <a:spcPts val="0"/>
              </a:spcAft>
              <a:buClr>
                <a:schemeClr val="dk1"/>
              </a:buClr>
              <a:buSzPts val="1750"/>
              <a:buFont typeface="Arial"/>
              <a:buChar char="●"/>
            </a:pPr>
            <a:r>
              <a:rPr lang="en-US" sz="1250" b="0" i="0" u="sng" strike="noStrike" cap="none">
                <a:solidFill>
                  <a:schemeClr val="hlink"/>
                </a:solidFill>
                <a:latin typeface="Arial"/>
                <a:ea typeface="Arial"/>
                <a:cs typeface="Arial"/>
                <a:sym typeface="Arial"/>
                <a:hlinkClick r:id="rId5"/>
              </a:rPr>
              <a:t>https://bugatti-asic.atlassian.net/browse/SKYSIM-237</a:t>
            </a:r>
            <a:endParaRPr sz="1250" b="0" i="0" u="sng" strike="noStrike" cap="none">
              <a:solidFill>
                <a:schemeClr val="hlink"/>
              </a:solidFill>
              <a:latin typeface="Arial"/>
              <a:ea typeface="Arial"/>
              <a:cs typeface="Arial"/>
              <a:sym typeface="Arial"/>
            </a:endParaRPr>
          </a:p>
          <a:p>
            <a:pPr marL="457200" marR="0" lvl="0" indent="-339725" algn="l" rtl="0">
              <a:lnSpc>
                <a:spcPct val="115000"/>
              </a:lnSpc>
              <a:spcBef>
                <a:spcPts val="0"/>
              </a:spcBef>
              <a:spcAft>
                <a:spcPts val="0"/>
              </a:spcAft>
              <a:buClr>
                <a:schemeClr val="dk1"/>
              </a:buClr>
              <a:buSzPts val="1750"/>
              <a:buFont typeface="Arial"/>
              <a:buChar char="●"/>
            </a:pPr>
            <a:r>
              <a:rPr lang="en-US" sz="1250" b="0" i="0" u="sng" strike="noStrike" cap="none">
                <a:solidFill>
                  <a:schemeClr val="hlink"/>
                </a:solidFill>
                <a:latin typeface="Arial"/>
                <a:ea typeface="Arial"/>
                <a:cs typeface="Arial"/>
                <a:sym typeface="Arial"/>
                <a:hlinkClick r:id="rId6"/>
              </a:rPr>
              <a:t>https://bugatti-asic.atlassian.net/browse/SKYSIM-238</a:t>
            </a:r>
            <a:endParaRPr sz="1250" b="0" i="0" u="sng" strike="noStrike" cap="none">
              <a:solidFill>
                <a:schemeClr val="hlink"/>
              </a:solidFill>
              <a:latin typeface="Arial"/>
              <a:ea typeface="Arial"/>
              <a:cs typeface="Arial"/>
              <a:sym typeface="Arial"/>
            </a:endParaRPr>
          </a:p>
          <a:p>
            <a:pPr marL="457200" marR="0" lvl="0" indent="-339725" algn="l" rtl="0">
              <a:lnSpc>
                <a:spcPct val="115000"/>
              </a:lnSpc>
              <a:spcBef>
                <a:spcPts val="0"/>
              </a:spcBef>
              <a:spcAft>
                <a:spcPts val="0"/>
              </a:spcAft>
              <a:buClr>
                <a:schemeClr val="dk1"/>
              </a:buClr>
              <a:buSzPts val="1750"/>
              <a:buFont typeface="Arial"/>
              <a:buChar char="●"/>
            </a:pPr>
            <a:r>
              <a:rPr lang="en-US" sz="1250" b="0" i="0" u="sng" strike="noStrike" cap="none">
                <a:solidFill>
                  <a:schemeClr val="hlink"/>
                </a:solidFill>
                <a:latin typeface="Arial"/>
                <a:ea typeface="Arial"/>
                <a:cs typeface="Arial"/>
                <a:sym typeface="Arial"/>
                <a:hlinkClick r:id="rId7"/>
              </a:rPr>
              <a:t>https://bugatti-asic.atlassian.net/browse/SKYSIM-239</a:t>
            </a:r>
            <a:endParaRPr sz="1250" b="0" i="0" u="sng" strike="noStrike" cap="none">
              <a:solidFill>
                <a:schemeClr val="hlink"/>
              </a:solidFill>
              <a:latin typeface="Arial"/>
              <a:ea typeface="Arial"/>
              <a:cs typeface="Arial"/>
              <a:sym typeface="Arial"/>
            </a:endParaRPr>
          </a:p>
          <a:p>
            <a:pPr marL="457200" marR="0" lvl="0" indent="-339725" algn="l" rtl="0">
              <a:lnSpc>
                <a:spcPct val="115000"/>
              </a:lnSpc>
              <a:spcBef>
                <a:spcPts val="0"/>
              </a:spcBef>
              <a:spcAft>
                <a:spcPts val="0"/>
              </a:spcAft>
              <a:buClr>
                <a:schemeClr val="dk1"/>
              </a:buClr>
              <a:buSzPts val="1750"/>
              <a:buFont typeface="Arial"/>
              <a:buChar char="●"/>
            </a:pPr>
            <a:r>
              <a:rPr lang="en-US" sz="1250" b="0" i="0" u="sng" strike="noStrike" cap="none">
                <a:solidFill>
                  <a:schemeClr val="hlink"/>
                </a:solidFill>
                <a:latin typeface="Arial"/>
                <a:ea typeface="Arial"/>
                <a:cs typeface="Arial"/>
                <a:sym typeface="Arial"/>
                <a:hlinkClick r:id="rId8"/>
              </a:rPr>
              <a:t>https://bugatti-asic.atlassian.net/browse/SKYSIM-240</a:t>
            </a:r>
            <a:endParaRPr sz="1250" b="0" i="0" u="sng" strike="noStrike" cap="none">
              <a:solidFill>
                <a:schemeClr val="hlink"/>
              </a:solidFill>
              <a:latin typeface="Arial"/>
              <a:ea typeface="Arial"/>
              <a:cs typeface="Arial"/>
              <a:sym typeface="Arial"/>
            </a:endParaRPr>
          </a:p>
          <a:p>
            <a:pPr marL="457200" marR="0" lvl="0" indent="-339725" algn="l" rtl="0">
              <a:lnSpc>
                <a:spcPct val="115000"/>
              </a:lnSpc>
              <a:spcBef>
                <a:spcPts val="0"/>
              </a:spcBef>
              <a:spcAft>
                <a:spcPts val="0"/>
              </a:spcAft>
              <a:buClr>
                <a:schemeClr val="dk1"/>
              </a:buClr>
              <a:buSzPts val="1750"/>
              <a:buFont typeface="Arial"/>
              <a:buChar char="●"/>
            </a:pPr>
            <a:r>
              <a:rPr lang="en-US" sz="1250" b="0" i="0" u="sng" strike="noStrike" cap="none">
                <a:solidFill>
                  <a:schemeClr val="hlink"/>
                </a:solidFill>
                <a:latin typeface="Arial"/>
                <a:ea typeface="Arial"/>
                <a:cs typeface="Arial"/>
                <a:sym typeface="Arial"/>
                <a:hlinkClick r:id="rId9"/>
              </a:rPr>
              <a:t>https://bugatti-asic.atlassian.net/browse/SKYSIM-241</a:t>
            </a:r>
            <a:endParaRPr sz="1250" b="0" i="0" u="sng" strike="noStrike" cap="none">
              <a:solidFill>
                <a:schemeClr val="hlink"/>
              </a:solidFill>
              <a:latin typeface="Arial"/>
              <a:ea typeface="Arial"/>
              <a:cs typeface="Arial"/>
              <a:sym typeface="Arial"/>
            </a:endParaRPr>
          </a:p>
          <a:p>
            <a:pPr marL="457200" marR="0" lvl="0" indent="-339725" algn="l" rtl="0">
              <a:lnSpc>
                <a:spcPct val="115000"/>
              </a:lnSpc>
              <a:spcBef>
                <a:spcPts val="0"/>
              </a:spcBef>
              <a:spcAft>
                <a:spcPts val="0"/>
              </a:spcAft>
              <a:buClr>
                <a:schemeClr val="dk1"/>
              </a:buClr>
              <a:buSzPts val="1750"/>
              <a:buFont typeface="Arial"/>
              <a:buChar char="●"/>
            </a:pPr>
            <a:r>
              <a:rPr lang="en-US" sz="1250" b="0" i="0" u="sng" strike="noStrike" cap="none">
                <a:solidFill>
                  <a:schemeClr val="hlink"/>
                </a:solidFill>
                <a:latin typeface="Arial"/>
                <a:ea typeface="Arial"/>
                <a:cs typeface="Arial"/>
                <a:sym typeface="Arial"/>
                <a:hlinkClick r:id="rId10"/>
              </a:rPr>
              <a:t>https://bugatti-asic.atlassian.net/browse/SKYSIM-242</a:t>
            </a:r>
            <a:endParaRPr sz="1250" b="0" i="0" u="sng" strike="noStrike" cap="none">
              <a:solidFill>
                <a:schemeClr val="hlink"/>
              </a:solidFill>
              <a:latin typeface="Arial"/>
              <a:ea typeface="Arial"/>
              <a:cs typeface="Arial"/>
              <a:sym typeface="Arial"/>
            </a:endParaRPr>
          </a:p>
          <a:p>
            <a:pPr marL="457200" marR="0" lvl="0" indent="-339725" algn="l" rtl="0">
              <a:lnSpc>
                <a:spcPct val="115000"/>
              </a:lnSpc>
              <a:spcBef>
                <a:spcPts val="0"/>
              </a:spcBef>
              <a:spcAft>
                <a:spcPts val="0"/>
              </a:spcAft>
              <a:buClr>
                <a:schemeClr val="dk1"/>
              </a:buClr>
              <a:buSzPts val="1750"/>
              <a:buFont typeface="Arial"/>
              <a:buChar char="●"/>
            </a:pPr>
            <a:r>
              <a:rPr lang="en-US" sz="1250" b="0" i="0" u="sng" strike="noStrike" cap="none">
                <a:solidFill>
                  <a:schemeClr val="hlink"/>
                </a:solidFill>
                <a:latin typeface="Arial"/>
                <a:ea typeface="Arial"/>
                <a:cs typeface="Arial"/>
                <a:sym typeface="Arial"/>
                <a:hlinkClick r:id="rId11"/>
              </a:rPr>
              <a:t>https://bugatti-asic.atlassian.net/browse/SKYSIM-243</a:t>
            </a:r>
            <a:endParaRPr sz="1750" b="0" i="0" u="none" strike="noStrike" cap="none">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51830"/>
        </a:solidFill>
        <a:effectLst/>
      </p:bgPr>
    </p:bg>
    <p:spTree>
      <p:nvGrpSpPr>
        <p:cNvPr id="1" name="Shape 360"/>
        <p:cNvGrpSpPr/>
        <p:nvPr/>
      </p:nvGrpSpPr>
      <p:grpSpPr>
        <a:xfrm>
          <a:off x="0" y="0"/>
          <a:ext cx="0" cy="0"/>
          <a:chOff x="0" y="0"/>
          <a:chExt cx="0" cy="0"/>
        </a:xfrm>
      </p:grpSpPr>
      <p:sp>
        <p:nvSpPr>
          <p:cNvPr id="361" name="Google Shape;361;p9"/>
          <p:cNvSpPr/>
          <p:nvPr/>
        </p:nvSpPr>
        <p:spPr>
          <a:xfrm>
            <a:off x="0" y="1371600"/>
            <a:ext cx="9144000" cy="164592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E19E"/>
              </a:buClr>
              <a:buSzPts val="8000"/>
              <a:buFont typeface="Calibri"/>
              <a:buNone/>
            </a:pPr>
            <a:r>
              <a:rPr lang="en-US" sz="8000" b="0" i="0" u="none" strike="noStrike" cap="none">
                <a:solidFill>
                  <a:srgbClr val="FFE19E"/>
                </a:solidFill>
                <a:latin typeface="Calibri"/>
                <a:ea typeface="Calibri"/>
                <a:cs typeface="Calibri"/>
                <a:sym typeface="Calibri"/>
              </a:rPr>
              <a:t>Thank you!</a:t>
            </a:r>
            <a:endParaRPr sz="8000" b="0" i="0" u="none" strike="noStrike" cap="none">
              <a:solidFill>
                <a:schemeClr val="dk1"/>
              </a:solidFill>
              <a:latin typeface="Calibri"/>
              <a:ea typeface="Calibri"/>
              <a:cs typeface="Calibri"/>
              <a:sym typeface="Calibri"/>
            </a:endParaRPr>
          </a:p>
        </p:txBody>
      </p:sp>
      <p:sp>
        <p:nvSpPr>
          <p:cNvPr id="362" name="Google Shape;362;p9"/>
          <p:cNvSpPr/>
          <p:nvPr/>
        </p:nvSpPr>
        <p:spPr>
          <a:xfrm>
            <a:off x="457200" y="329184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E19E"/>
              </a:buClr>
              <a:buSzPts val="2400"/>
              <a:buFont typeface="Calibri"/>
              <a:buNone/>
            </a:pPr>
            <a:endParaRPr sz="2400" b="0" i="0" u="none" strike="noStrike" cap="none">
              <a:solidFill>
                <a:schemeClr val="dk1"/>
              </a:solidFill>
              <a:latin typeface="Calibri"/>
              <a:ea typeface="Calibri"/>
              <a:cs typeface="Calibri"/>
              <a:sym typeface="Calibri"/>
            </a:endParaRPr>
          </a:p>
        </p:txBody>
      </p:sp>
      <p:sp>
        <p:nvSpPr>
          <p:cNvPr id="363" name="Google Shape;363;p9"/>
          <p:cNvSpPr/>
          <p:nvPr/>
        </p:nvSpPr>
        <p:spPr>
          <a:xfrm>
            <a:off x="0" y="4850892"/>
            <a:ext cx="9144000" cy="18288"/>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 name="Google Shape;364;p9"/>
          <p:cNvSpPr/>
          <p:nvPr/>
        </p:nvSpPr>
        <p:spPr>
          <a:xfrm>
            <a:off x="0" y="4869180"/>
            <a:ext cx="9144000" cy="274320"/>
          </a:xfrm>
          <a:prstGeom prst="rect">
            <a:avLst/>
          </a:prstGeom>
          <a:solidFill>
            <a:srgbClr val="081F3A"/>
          </a:solidFill>
          <a:ln w="12700" cap="flat" cmpd="sng">
            <a:solidFill>
              <a:srgbClr val="081F3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 name="Google Shape;365;p9"/>
          <p:cNvSpPr/>
          <p:nvPr/>
        </p:nvSpPr>
        <p:spPr>
          <a:xfrm>
            <a:off x="274320" y="4887468"/>
            <a:ext cx="7772400" cy="20116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688AA"/>
              </a:buClr>
              <a:buSzPts val="700"/>
              <a:buFont typeface="Calibri"/>
              <a:buNone/>
            </a:pPr>
            <a:r>
              <a:rPr lang="en-US" sz="700" b="0" i="0" u="none" strike="noStrike" cap="none">
                <a:solidFill>
                  <a:srgbClr val="6688AA"/>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366" name="Google Shape;366;p9"/>
          <p:cNvSpPr/>
          <p:nvPr/>
        </p:nvSpPr>
        <p:spPr>
          <a:xfrm>
            <a:off x="7863840" y="4887468"/>
            <a:ext cx="1097280" cy="201168"/>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FFFFFF"/>
                </a:solidFill>
                <a:latin typeface="Calibri"/>
                <a:ea typeface="Calibri"/>
                <a:cs typeface="Calibri"/>
                <a:sym typeface="Calibri"/>
              </a:rPr>
              <a:t>upscale </a:t>
            </a:r>
            <a:r>
              <a:rPr lang="en-US" sz="900" b="0" i="0" u="none" strike="noStrike" cap="none">
                <a:solidFill>
                  <a:srgbClr val="FFE19E"/>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51830"/>
        </a:solidFill>
        <a:effectLst/>
      </p:bgPr>
    </p:bg>
    <p:spTree>
      <p:nvGrpSpPr>
        <p:cNvPr id="1" name="Shape 371"/>
        <p:cNvGrpSpPr/>
        <p:nvPr/>
      </p:nvGrpSpPr>
      <p:grpSpPr>
        <a:xfrm>
          <a:off x="0" y="0"/>
          <a:ext cx="0" cy="0"/>
          <a:chOff x="0" y="0"/>
          <a:chExt cx="0" cy="0"/>
        </a:xfrm>
      </p:grpSpPr>
      <p:sp>
        <p:nvSpPr>
          <p:cNvPr id="372" name="Google Shape;372;p10"/>
          <p:cNvSpPr/>
          <p:nvPr/>
        </p:nvSpPr>
        <p:spPr>
          <a:xfrm>
            <a:off x="457200" y="219456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334455"/>
              </a:buClr>
              <a:buSzPts val="1800"/>
              <a:buFont typeface="Calibri"/>
              <a:buNone/>
            </a:pPr>
            <a:r>
              <a:rPr lang="en-US" sz="1800" b="0" i="0" u="none" strike="noStrike" cap="none">
                <a:solidFill>
                  <a:srgbClr val="334455"/>
                </a:solidFill>
                <a:latin typeface="Calibri"/>
                <a:ea typeface="Calibri"/>
                <a:cs typeface="Calibri"/>
                <a:sym typeface="Calibri"/>
              </a:rPr>
              <a:t>Blank – by design</a:t>
            </a:r>
            <a:endParaRPr sz="1800" b="0" i="0" u="none" strike="noStrike" cap="none">
              <a:solidFill>
                <a:schemeClr val="dk1"/>
              </a:solidFill>
              <a:latin typeface="Calibri"/>
              <a:ea typeface="Calibri"/>
              <a:cs typeface="Calibri"/>
              <a:sym typeface="Calibri"/>
            </a:endParaRPr>
          </a:p>
        </p:txBody>
      </p:sp>
      <p:sp>
        <p:nvSpPr>
          <p:cNvPr id="373" name="Google Shape;373;p10"/>
          <p:cNvSpPr/>
          <p:nvPr/>
        </p:nvSpPr>
        <p:spPr>
          <a:xfrm>
            <a:off x="0" y="4850892"/>
            <a:ext cx="9144000" cy="18288"/>
          </a:xfrm>
          <a:prstGeom prst="rect">
            <a:avLst/>
          </a:prstGeom>
          <a:solidFill>
            <a:srgbClr val="C8A85A"/>
          </a:solidFill>
          <a:ln w="12700" cap="flat" cmpd="sng">
            <a:solidFill>
              <a:srgbClr val="C8A85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 name="Google Shape;374;p10"/>
          <p:cNvSpPr/>
          <p:nvPr/>
        </p:nvSpPr>
        <p:spPr>
          <a:xfrm>
            <a:off x="0" y="4869180"/>
            <a:ext cx="9144000" cy="274320"/>
          </a:xfrm>
          <a:prstGeom prst="rect">
            <a:avLst/>
          </a:prstGeom>
          <a:solidFill>
            <a:srgbClr val="081F3A"/>
          </a:solidFill>
          <a:ln w="12700" cap="flat" cmpd="sng">
            <a:solidFill>
              <a:srgbClr val="081F3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 name="Google Shape;375;p10"/>
          <p:cNvSpPr/>
          <p:nvPr/>
        </p:nvSpPr>
        <p:spPr>
          <a:xfrm>
            <a:off x="274320" y="4887468"/>
            <a:ext cx="7772400" cy="20116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688AA"/>
              </a:buClr>
              <a:buSzPts val="700"/>
              <a:buFont typeface="Calibri"/>
              <a:buNone/>
            </a:pPr>
            <a:r>
              <a:rPr lang="en-US" sz="700" b="0" i="0" u="none" strike="noStrike" cap="none">
                <a:solidFill>
                  <a:srgbClr val="6688AA"/>
                </a:solidFill>
                <a:latin typeface="Calibri"/>
                <a:ea typeface="Calibri"/>
                <a:cs typeface="Calibri"/>
                <a:sym typeface="Calibri"/>
              </a:rPr>
              <a:t>© 2026 Upscale AI – Proprietary and Confidential – Do Not Reproduce or Duplicate</a:t>
            </a:r>
            <a:endParaRPr sz="700" b="0" i="0" u="none" strike="noStrike" cap="none">
              <a:solidFill>
                <a:schemeClr val="dk1"/>
              </a:solidFill>
              <a:latin typeface="Calibri"/>
              <a:ea typeface="Calibri"/>
              <a:cs typeface="Calibri"/>
              <a:sym typeface="Calibri"/>
            </a:endParaRPr>
          </a:p>
        </p:txBody>
      </p:sp>
      <p:sp>
        <p:nvSpPr>
          <p:cNvPr id="376" name="Google Shape;376;p10"/>
          <p:cNvSpPr/>
          <p:nvPr/>
        </p:nvSpPr>
        <p:spPr>
          <a:xfrm>
            <a:off x="7863840" y="4887468"/>
            <a:ext cx="1097280" cy="201168"/>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E19E"/>
              </a:buClr>
              <a:buSzPts val="800"/>
              <a:buFont typeface="Calibri"/>
              <a:buNone/>
            </a:pPr>
            <a:r>
              <a:rPr lang="en-US" sz="800" b="1" i="0" u="none" strike="noStrike" cap="none">
                <a:solidFill>
                  <a:srgbClr val="FFE19E"/>
                </a:solidFill>
                <a:latin typeface="Calibri"/>
                <a:ea typeface="Calibri"/>
                <a:cs typeface="Calibri"/>
                <a:sym typeface="Calibri"/>
              </a:rPr>
              <a:t>UP </a:t>
            </a:r>
            <a:r>
              <a:rPr lang="en-US" sz="900" b="1" i="0" u="none" strike="noStrike" cap="none">
                <a:solidFill>
                  <a:srgbClr val="FFFFFF"/>
                </a:solidFill>
                <a:latin typeface="Calibri"/>
                <a:ea typeface="Calibri"/>
                <a:cs typeface="Calibri"/>
                <a:sym typeface="Calibri"/>
              </a:rPr>
              <a:t>upscale </a:t>
            </a:r>
            <a:r>
              <a:rPr lang="en-US" sz="900" b="0" i="0" u="none" strike="noStrike" cap="none">
                <a:solidFill>
                  <a:srgbClr val="FFE19E"/>
                </a:solidFill>
                <a:latin typeface="Calibri"/>
                <a:ea typeface="Calibri"/>
                <a:cs typeface="Calibri"/>
                <a:sym typeface="Calibri"/>
              </a:rPr>
              <a:t>ai</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63CE4F5B33B9B47BA16A8D82636783D" ma:contentTypeVersion="15" ma:contentTypeDescription="Create a new document." ma:contentTypeScope="" ma:versionID="3f5d8ee684fd6382a1a7264cb2ced548">
  <xsd:schema xmlns:xsd="http://www.w3.org/2001/XMLSchema" xmlns:xs="http://www.w3.org/2001/XMLSchema" xmlns:p="http://schemas.microsoft.com/office/2006/metadata/properties" xmlns:ns2="fb6a68c4-ab8f-4ba3-a895-6ac835c17b7e" xmlns:ns3="02831a02-8e16-4ec9-bd65-59388d77e3b2" targetNamespace="http://schemas.microsoft.com/office/2006/metadata/properties" ma:root="true" ma:fieldsID="5a953b81592bcab817634265e9ab1dd5" ns2:_="" ns3:_="">
    <xsd:import namespace="fb6a68c4-ab8f-4ba3-a895-6ac835c17b7e"/>
    <xsd:import namespace="02831a02-8e16-4ec9-bd65-59388d77e3b2"/>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DateTaken" minOccurs="0"/>
                <xsd:element ref="ns3:MediaServiceGenerationTime" minOccurs="0"/>
                <xsd:element ref="ns3:MediaServiceEventHashCode" minOccurs="0"/>
                <xsd:element ref="ns3:MediaLengthInSeconds" minOccurs="0"/>
                <xsd:element ref="ns3:MigrationWizId" minOccurs="0"/>
                <xsd:element ref="ns3:MigrationWizIdPermissions" minOccurs="0"/>
                <xsd:element ref="ns3:MigrationWizIdVersion" minOccurs="0"/>
                <xsd:element ref="ns3:lcf76f155ced4ddcb4097134ff3c332f" minOccurs="0"/>
                <xsd:element ref="ns2:TaxCatchAll"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6a68c4-ab8f-4ba3-a895-6ac835c17b7e"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1" nillable="true" ma:displayName="Taxonomy Catch All Column" ma:hidden="true" ma:list="{39f00500-20d3-4015-8ed4-d465b76ab46e}" ma:internalName="TaxCatchAll" ma:showField="CatchAllData" ma:web="fb6a68c4-ab8f-4ba3-a895-6ac835c17b7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2831a02-8e16-4ec9-bd65-59388d77e3b2"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igrationWizId" ma:index="16" nillable="true" ma:displayName="MigrationWizId" ma:internalName="MigrationWizId">
      <xsd:simpleType>
        <xsd:restriction base="dms:Text"/>
      </xsd:simpleType>
    </xsd:element>
    <xsd:element name="MigrationWizIdPermissions" ma:index="17" nillable="true" ma:displayName="MigrationWizIdPermissions" ma:internalName="MigrationWizIdPermissions">
      <xsd:simpleType>
        <xsd:restriction base="dms:Text"/>
      </xsd:simpleType>
    </xsd:element>
    <xsd:element name="MigrationWizIdVersion" ma:index="18" nillable="true" ma:displayName="MigrationWizIdVersion" ma:internalName="MigrationWizIdVersion">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5568d06a-9151-4f9f-a28d-684c52c13878"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igrationSourceID xmlns="fb6a68c4-ab8f-4ba3-a895-6ac835c17b7e">1kv6CIXj2YO96Z9sh70NFdV8FGzdxTmcr</MigrationSourceID>
    <MigrationWizIdPermissions xmlns="02831a02-8e16-4ec9-bd65-59388d77e3b2" xsi:nil="true"/>
    <MigrationWizIdVersion xmlns="02831a02-8e16-4ec9-bd65-59388d77e3b2" xsi:nil="true"/>
    <MigrationWizId xmlns="02831a02-8e16-4ec9-bd65-59388d77e3b2" xsi:nil="true"/>
    <lcf76f155ced4ddcb4097134ff3c332f xmlns="02831a02-8e16-4ec9-bd65-59388d77e3b2">
      <Terms xmlns="http://schemas.microsoft.com/office/infopath/2007/PartnerControls"/>
    </lcf76f155ced4ddcb4097134ff3c332f>
    <TaxCatchAll xmlns="fb6a68c4-ab8f-4ba3-a895-6ac835c17b7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7F9CACF-705F-4DAF-B572-0A458E8DBA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b6a68c4-ab8f-4ba3-a895-6ac835c17b7e"/>
    <ds:schemaRef ds:uri="02831a02-8e16-4ec9-bd65-59388d77e3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908B21-CBA9-4FB3-99DD-253C12A6A26A}">
  <ds:schemaRefs>
    <ds:schemaRef ds:uri="http://schemas.microsoft.com/office/2006/metadata/properties"/>
    <ds:schemaRef ds:uri="http://schemas.microsoft.com/office/infopath/2007/PartnerControls"/>
    <ds:schemaRef ds:uri="fb6a68c4-ab8f-4ba3-a895-6ac835c17b7e"/>
    <ds:schemaRef ds:uri="02831a02-8e16-4ec9-bd65-59388d77e3b2"/>
  </ds:schemaRefs>
</ds:datastoreItem>
</file>

<file path=customXml/itemProps3.xml><?xml version="1.0" encoding="utf-8"?>
<ds:datastoreItem xmlns:ds="http://schemas.openxmlformats.org/officeDocument/2006/customXml" ds:itemID="{F309101F-597A-4913-BCA7-C230F0E946F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32</Slides>
  <Notes>32</Notes>
  <HiddenSlides>0</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Girish Kalele</dc:creator>
  <cp:revision>1</cp:revision>
  <dcterms:created xsi:type="dcterms:W3CDTF">2026-03-27T17:55:03Z</dcterms:created>
  <dcterms:modified xsi:type="dcterms:W3CDTF">2026-06-04T18:38:57Z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0x010100D63CE4F5B33B9B47BA16A8D82636783D</vt:lpwstr>
  </property>
</Properties>
</file>