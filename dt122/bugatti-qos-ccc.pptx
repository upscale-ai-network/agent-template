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7"/>
  </p:notesMasterIdLst>
  <p:sldIdLst>
    <p:sldId id="256" r:id="rId5"/>
    <p:sldId id="258" r:id="rId7"/>
    <p:sldId id="259" r:id="rId8"/>
    <p:sldId id="260" r:id="rId9"/>
    <p:sldId id="261" r:id="rId10"/>
    <p:sldId id="262" r:id="rId11"/>
    <p:sldId id="263" r:id="rId12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h9pMNojvmZd7sLzoI35cKCZ+b9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37" Type="http://schemas.openxmlformats.org/officeDocument/2006/relationships/notesMaster" Target="notesMasters/notesMaster1.xml"/><Relationship Id="rId38" Type="http://customschemas.google.com/relationships/presentationmetadata" Target="metadata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b39bbdc2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g38b39bbdc2a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" name="Google Shape;51;g38b39bbdc2a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b39bbdc2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8b39bbdc2a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g38b39bbdc2a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b39bbdc2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38b39bbdc2a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" name="Google Shape;73;g38b39bbdc2a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542e4bd6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g3d542e4bd6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g3d542e4bd6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542e4bd64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3d542e4bd64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3d542e4bd64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42e4bd6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d542e4bd64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g3d542e4bd64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83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 </a:t>
            </a:r>
            <a:r>
              <a:rPr lang="en-US" sz="22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22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828800"/>
            <a:ext cx="3200400" cy="36576"/>
          </a:xfrm>
          <a:prstGeom prst="rect">
            <a:avLst/>
          </a:prstGeom>
          <a:solidFill>
            <a:srgbClr val="FFE19E"/>
          </a:solidFill>
          <a:ln w="12700" cap="flat" cmpd="sng">
            <a:solidFill>
              <a:srgbClr val="FFE1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965960"/>
            <a:ext cx="43891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50" b="0" i="1" u="none" strike="noStrike" cap="none">
                <a:solidFill>
                  <a:srgbClr val="FEDB8D"/>
                </a:solidFill>
                <a:latin typeface="Arial"/>
                <a:ea typeface="Arial"/>
                <a:cs typeface="Arial"/>
                <a:sym typeface="Arial"/>
              </a:rPr>
              <a:t>csb-buffer-carving-ccc</a:t>
            </a:r>
            <a:endParaRPr sz="1950" b="0" i="1" u="none" strike="noStrike" cap="none">
              <a:solidFill>
                <a:srgbClr val="FEDB8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50" b="0" i="1" u="none" strike="noStrike" cap="none">
                <a:solidFill>
                  <a:srgbClr val="FEDB8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2600" b="0" i="1" u="none" strike="noStrike" cap="none">
              <a:solidFill>
                <a:srgbClr val="FFE1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3383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Diwakar Tundlam · 11 Jun 2026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749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88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78899"/>
                </a:solidFill>
                <a:latin typeface="Calibri"/>
                <a:ea typeface="Calibri"/>
                <a:cs typeface="Calibri"/>
                <a:sym typeface="Calibri"/>
              </a:rPr>
              <a:t>Confidential — Upscale AI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0" y="0"/>
            <a:ext cx="4572000" cy="4869180"/>
          </a:xfrm>
          <a:prstGeom prst="rect">
            <a:avLst/>
          </a:prstGeom>
          <a:solidFill>
            <a:srgbClr val="071E35"/>
          </a:solidFill>
          <a:ln w="12700" cap="flat" cmpd="sng">
            <a:solidFill>
              <a:srgbClr val="071E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846320" y="274320"/>
            <a:ext cx="27432" cy="137160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394960" y="274320"/>
            <a:ext cx="27432" cy="164592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943600" y="274320"/>
            <a:ext cx="27432" cy="192024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492240" y="274320"/>
            <a:ext cx="27432" cy="219456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040880" y="274320"/>
            <a:ext cx="27432" cy="246888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589520" y="274320"/>
            <a:ext cx="27432" cy="274320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846320" y="457200"/>
            <a:ext cx="320040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846320" y="1188720"/>
            <a:ext cx="283464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846320" y="1920240"/>
            <a:ext cx="246888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846320" y="2651760"/>
            <a:ext cx="210312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760720" y="146304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0A2744"/>
          </a:solidFill>
          <a:ln w="25400" cap="flat" cmpd="sng">
            <a:solidFill>
              <a:srgbClr val="FFE1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760720" y="1737360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FFE19E"/>
              </a:buClr>
              <a:buSzPts val="2200"/>
              <a:buFont typeface="Calibri"/>
              <a:buNone/>
            </a:pPr>
            <a:r>
              <a:rPr sz="1900">
                <a:solidFill>
                  <a:srgbClr val="FFE19E"/>
                </a:solidFill>
                <a:latin typeface="Calibri"/>
              </a:rPr>
              <a:t>Static and dynamic buffer carving at Central Scheduler Block (CSB)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0" y="4850892"/>
            <a:ext cx="9144000" cy="18288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81F3A"/>
          </a:solidFill>
          <a:ln w="12700" cap="flat" cmpd="sng">
            <a:solidFill>
              <a:srgbClr val="08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274320" y="4887468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88AA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6688AA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7863840" y="48874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b39bbdc2a_0_1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sz="2600">
                <a:solidFill>
                  <a:srgbClr val="051830"/>
                </a:solidFill>
                <a:latin typeface="Calibri"/>
              </a:rPr>
              <a:t>csb-buffer-carving-ccc scope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QoSMAP → buffer carving at CSB → csb-buffer-carving-ccc</a:t>
            </a:r>
          </a:p>
        </p:txBody>
      </p:sp>
      <p:sp>
        <p:nvSpPr>
          <p:cNvPr id="54" name="Google Shape;54;g38b39bbdc2a_0_1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8b39bbdc2a_0_1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8b39bbdc2a_0_1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8b39bbdc2a_0_1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8b39bbdc2a_0_10"/>
          <p:cNvSpPr txBox="1"/>
          <p:nvPr/>
        </p:nvSpPr>
        <p:spPr>
          <a:xfrm>
            <a:off x="411475" y="79552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Picture 58" descr="b6-slide02-pipeline-scope-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664208"/>
            <a:ext cx="811530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b39bbdc2a_0_20"/>
          <p:cNvSpPr/>
          <p:nvPr/>
        </p:nvSpPr>
        <p:spPr>
          <a:xfrm>
            <a:off x="411480" y="20116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8b39bbdc2a_0_2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8b39bbdc2a_0_2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8b39bbdc2a_0_2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8b39bbdc2a_0_2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8b39bbdc2a_0_20"/>
          <p:cNvSpPr txBox="1"/>
          <p:nvPr/>
        </p:nvSpPr>
        <p:spPr>
          <a:xfrm>
            <a:off x="411475" y="79552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Picture 69" descr="logical-pipeline-boss-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64" y="320040"/>
            <a:ext cx="7897871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b39bbdc2a_0_3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sz="2600">
                <a:solidFill>
                  <a:srgbClr val="051830"/>
                </a:solidFill>
                <a:latin typeface="Calibri"/>
              </a:rPr>
              <a:t>Capabilities · Classify, Enqueue and Remark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8b39bbdc2a_0_3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8b39bbdc2a_0_3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8b39bbdc2a_0_3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8b39bbdc2a_0_3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8b39bbdc2a_0_30"/>
          <p:cNvSpPr txBox="1"/>
          <p:nvPr/>
        </p:nvSpPr>
        <p:spPr>
          <a:xfrm>
            <a:off x="320040" y="1508760"/>
            <a:ext cx="4709160" cy="32461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sz="800">
                <a:solidFill>
                  <a:srgbClr val="333333"/>
                </a:solidFill>
                <a:latin typeface="Arial"/>
              </a:rPr>
              <a:t>• (draft in progress ... RFC)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333333"/>
                </a:solidFill>
                <a:latin typeface="Arial"/>
              </a:rPr>
              <a:t>• Buffer-carving (CSB)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333333"/>
                </a:solidFill>
                <a:latin typeface="Arial"/>
              </a:rPr>
              <a:t>    ◦ Port-speed bifurcation → static carve → scheduler configuration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333333"/>
                </a:solidFill>
                <a:latin typeface="Arial"/>
              </a:rPr>
              <a:t>    ◦ TC → QoSMAP · queues · egress scheduler · per-port queue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333333"/>
                </a:solidFill>
                <a:latin typeface="Arial"/>
              </a:rPr>
              <a:t>• Classify · enqueue · remark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333333"/>
                </a:solidFill>
                <a:latin typeface="Arial"/>
              </a:rPr>
              <a:t>    ◦ ESUN-UFH → TC (4 or 3-bit=8) — different MAC layer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333333"/>
                </a:solidFill>
                <a:latin typeface="Arial"/>
              </a:rPr>
              <a:t>    ◦ AFH → (BCM: SUE) → vTC → VLAN · L3/DSCP → TC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333333"/>
                </a:solidFill>
                <a:latin typeface="Arial"/>
              </a:rPr>
              <a:t>    ◦ EFH → VLAN · PRI → L3/DSCP → TC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333333"/>
                </a:solidFill>
                <a:latin typeface="Arial"/>
              </a:rPr>
              <a:t>• L2/L3 datapath · ACL · police · ECN · PFC · global pause (802.3x) control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333333"/>
                </a:solidFill>
                <a:latin typeface="Arial"/>
              </a:rPr>
              <a:t>• Other peer contexts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333333"/>
                </a:solidFill>
                <a:latin typeface="Arial"/>
              </a:rPr>
              <a:t>    ◦ Dual-die Sky-Hammer · UCIe D2D · logical port mapping and X-connect verification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333333"/>
                </a:solidFill>
                <a:latin typeface="Arial"/>
              </a:rPr>
              <a:t>    ◦ ECMP · Mirroring · Counters/Stats · sFlow · CPU punt · Control / Management plane handling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333333"/>
                </a:solidFill>
                <a:latin typeface="Arial"/>
              </a:rPr>
              <a:t>    ◦ UA-Link (**descoped) — same PHY/PMD, different PCS/PMA</a:t>
            </a:r>
          </a:p>
        </p:txBody>
      </p:sp>
      <p:pic>
        <p:nvPicPr>
          <p:cNvPr id="81" name="Picture 80" descr="b6-slide04-qos-st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751076"/>
            <a:ext cx="6903720" cy="27614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542e4bd64_0_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sz="2600">
                <a:solidFill>
                  <a:srgbClr val="051830"/>
                </a:solidFill>
                <a:latin typeface="Calibri"/>
              </a:rPr>
              <a:t>Capacities · CSB Resource Management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d542e4bd64_0_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d542e4bd64_0_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d542e4bd64_0_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d542e4bd64_0_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d542e4bd64_0_0"/>
          <p:cNvSpPr txBox="1"/>
          <p:nvPr/>
        </p:nvSpPr>
        <p:spPr>
          <a:xfrm>
            <a:off x="320040" y="1508760"/>
            <a:ext cx="4709160" cy="32461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sz="800">
                <a:solidFill>
                  <a:srgbClr val="333333"/>
                </a:solidFill>
                <a:latin typeface="Arial"/>
              </a:rPr>
              <a:t>• (draft in progress ... RFC)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333333"/>
                </a:solidFill>
                <a:latin typeface="Arial"/>
              </a:rPr>
              <a:t>• Port tiers · bifurcation table setup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333333"/>
                </a:solidFill>
                <a:latin typeface="Arial"/>
              </a:rPr>
              <a:t>    ◦ 200G · 400G · 800G modes and rate mapping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333333"/>
                </a:solidFill>
                <a:latin typeface="Arial"/>
              </a:rPr>
              <a:t>    ◦ Validating line-rate matching serdes and standard, optics tuning, etc.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333333"/>
                </a:solidFill>
                <a:latin typeface="Arial"/>
              </a:rPr>
              <a:t>• Buffer pools at CSB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333333"/>
                </a:solidFill>
                <a:latin typeface="Arial"/>
              </a:rPr>
              <a:t>    ◦ Lossless pools — pause / PFC · with headroom / guarantees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333333"/>
                </a:solidFill>
                <a:latin typeface="Arial"/>
              </a:rPr>
              <a:t>    ◦ Lossy pools — ECN · WRED controlled with qos-mapping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333333"/>
                </a:solidFill>
                <a:latin typeface="Arial"/>
              </a:rPr>
              <a:t>• Carve control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333333"/>
                </a:solidFill>
                <a:latin typeface="Arial"/>
              </a:rPr>
              <a:t>    ◦ Static and dynamic pool sizing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333333"/>
                </a:solidFill>
                <a:latin typeface="Arial"/>
              </a:rPr>
              <a:t>    ◦ Traffic-aware congestion management (WRED? Tail-drop, packet-id retire/drops)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333333"/>
                </a:solidFill>
                <a:latin typeface="Arial"/>
              </a:rPr>
              <a:t>• Egress bandwidth scheduling (EBS)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333333"/>
                </a:solidFill>
                <a:latin typeface="Arial"/>
              </a:rPr>
              <a:t>    ◦ Per-TC queues · WFQ/SPQ · Total port bandwidth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333333"/>
                </a:solidFill>
                <a:latin typeface="Arial"/>
              </a:rPr>
              <a:t>    ◦ ECMP DLB · entropy / dynamic readjust / re-write / encap size adjusting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333333"/>
                </a:solidFill>
                <a:latin typeface="Arial"/>
              </a:rPr>
              <a:t>• Other considerations (ideas..)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333333"/>
                </a:solidFill>
                <a:latin typeface="Arial"/>
              </a:rPr>
              <a:t>    ◦ AI/XPU workload rebalance · SDN/controller alignment</a:t>
            </a:r>
          </a:p>
        </p:txBody>
      </p:sp>
      <p:pic>
        <p:nvPicPr>
          <p:cNvPr id="92" name="Picture 91" descr="b6-slide04-csb-in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751076"/>
            <a:ext cx="6903720" cy="27614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542e4bd64_0_3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sz="2600">
                <a:solidFill>
                  <a:srgbClr val="051830"/>
                </a:solidFill>
                <a:latin typeface="Calibri"/>
              </a:rPr>
              <a:t>(samples only - review with HW arch and publish)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d542e4bd64_0_3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d542e4bd64_0_3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d542e4bd64_0_3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d542e4bd64_0_3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d542e4bd64_0_30"/>
          <p:cNvSpPr txBox="1"/>
          <p:nvPr/>
        </p:nvSpPr>
        <p:spPr>
          <a:xfrm>
            <a:off x="411475" y="79552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Picture 102" descr="b6-slide05-csb-ccc-tab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664208"/>
            <a:ext cx="649224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542e4bd64_0_1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sz="2600">
                <a:solidFill>
                  <a:srgbClr val="051830"/>
                </a:solidFill>
                <a:latin typeface="Calibri"/>
              </a:rPr>
              <a:t>Scope · deliverable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d542e4bd64_0_1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d542e4bd64_0_1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d542e4bd64_0_1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d542e4bd64_0_1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d542e4bd64_0_10"/>
          <p:cNvSpPr txBox="1"/>
          <p:nvPr/>
        </p:nvSpPr>
        <p:spPr>
          <a:xfrm>
            <a:off x="411475" y="79552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Picture 113" descr="b6-slide06-scope-deliver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664208"/>
            <a:ext cx="8115300" cy="3246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3CE4F5B33B9B47BA16A8D82636783D" ma:contentTypeVersion="15" ma:contentTypeDescription="Create a new document." ma:contentTypeScope="" ma:versionID="3f5d8ee684fd6382a1a7264cb2ced548">
  <xsd:schema xmlns:xsd="http://www.w3.org/2001/XMLSchema" xmlns:xs="http://www.w3.org/2001/XMLSchema" xmlns:p="http://schemas.microsoft.com/office/2006/metadata/properties" xmlns:ns2="fb6a68c4-ab8f-4ba3-a895-6ac835c17b7e" xmlns:ns3="02831a02-8e16-4ec9-bd65-59388d77e3b2" targetNamespace="http://schemas.microsoft.com/office/2006/metadata/properties" ma:root="true" ma:fieldsID="5a953b81592bcab817634265e9ab1dd5" ns2:_="" ns3:_="">
    <xsd:import namespace="fb6a68c4-ab8f-4ba3-a895-6ac835c17b7e"/>
    <xsd:import namespace="02831a02-8e16-4ec9-bd65-59388d77e3b2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igrationWizId" minOccurs="0"/>
                <xsd:element ref="ns3:MigrationWizIdPermissions" minOccurs="0"/>
                <xsd:element ref="ns3:MigrationWizIdVersion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a68c4-ab8f-4ba3-a895-6ac835c17b7e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1" nillable="true" ma:displayName="Taxonomy Catch All Column" ma:hidden="true" ma:list="{39f00500-20d3-4015-8ed4-d465b76ab46e}" ma:internalName="TaxCatchAll" ma:showField="CatchAllData" ma:web="fb6a68c4-ab8f-4ba3-a895-6ac835c17b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831a02-8e16-4ec9-bd65-59388d77e3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igrationWizId" ma:index="16" nillable="true" ma:displayName="MigrationWizId" ma:internalName="MigrationWizId">
      <xsd:simpleType>
        <xsd:restriction base="dms:Text"/>
      </xsd:simpleType>
    </xsd:element>
    <xsd:element name="MigrationWizIdPermissions" ma:index="17" nillable="true" ma:displayName="MigrationWizIdPermissions" ma:internalName="MigrationWizIdPermissions">
      <xsd:simpleType>
        <xsd:restriction base="dms:Text"/>
      </xsd:simpleType>
    </xsd:element>
    <xsd:element name="MigrationWizIdVersion" ma:index="18" nillable="true" ma:displayName="MigrationWizIdVersion" ma:internalName="MigrationWizIdVersion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5568d06a-9151-4f9f-a28d-684c52c138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SourceID xmlns="fb6a68c4-ab8f-4ba3-a895-6ac835c17b7e">1kv6CIXj2YO96Z9sh70NFdV8FGzdxTmcr</MigrationSourceID>
    <MigrationWizIdPermissions xmlns="02831a02-8e16-4ec9-bd65-59388d77e3b2" xsi:nil="true"/>
    <MigrationWizIdVersion xmlns="02831a02-8e16-4ec9-bd65-59388d77e3b2" xsi:nil="true"/>
    <MigrationWizId xmlns="02831a02-8e16-4ec9-bd65-59388d77e3b2" xsi:nil="true"/>
    <lcf76f155ced4ddcb4097134ff3c332f xmlns="02831a02-8e16-4ec9-bd65-59388d77e3b2">
      <Terms xmlns="http://schemas.microsoft.com/office/infopath/2007/PartnerControls"/>
    </lcf76f155ced4ddcb4097134ff3c332f>
    <TaxCatchAll xmlns="fb6a68c4-ab8f-4ba3-a895-6ac835c17b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F9CACF-705F-4DAF-B572-0A458E8DBA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6a68c4-ab8f-4ba3-a895-6ac835c17b7e"/>
    <ds:schemaRef ds:uri="02831a02-8e16-4ec9-bd65-59388d77e3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908B21-CBA9-4FB3-99DD-253C12A6A26A}">
  <ds:schemaRefs>
    <ds:schemaRef ds:uri="http://schemas.microsoft.com/office/2006/metadata/properties"/>
    <ds:schemaRef ds:uri="http://schemas.microsoft.com/office/infopath/2007/PartnerControls"/>
    <ds:schemaRef ds:uri="fb6a68c4-ab8f-4ba3-a895-6ac835c17b7e"/>
    <ds:schemaRef ds:uri="02831a02-8e16-4ec9-bd65-59388d77e3b2"/>
  </ds:schemaRefs>
</ds:datastoreItem>
</file>

<file path=customXml/itemProps3.xml><?xml version="1.0" encoding="utf-8"?>
<ds:datastoreItem xmlns:ds="http://schemas.openxmlformats.org/officeDocument/2006/customXml" ds:itemID="{F309101F-597A-4913-BCA7-C230F0E946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32</Slides>
  <Notes>32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Girish Kalele</dc:creator>
  <cp:revision>1</cp:revision>
  <dcterms:created xsi:type="dcterms:W3CDTF">2026-03-27T17:55:03Z</dcterms:created>
  <dcterms:modified xsi:type="dcterms:W3CDTF">2026-06-04T18:38:57Z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0x010100D63CE4F5B33B9B47BA16A8D82636783D</vt:lpwstr>
  </property>
</Properties>
</file>